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3"/>
  </p:notesMasterIdLst>
  <p:handoutMasterIdLst>
    <p:handoutMasterId r:id="rId14"/>
  </p:handoutMasterIdLst>
  <p:sldIdLst>
    <p:sldId id="325" r:id="rId5"/>
    <p:sldId id="326" r:id="rId6"/>
    <p:sldId id="328" r:id="rId7"/>
    <p:sldId id="338" r:id="rId8"/>
    <p:sldId id="339" r:id="rId9"/>
    <p:sldId id="340" r:id="rId10"/>
    <p:sldId id="341" r:id="rId11"/>
    <p:sldId id="32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3A5A8"/>
    <a:srgbClr val="685135"/>
    <a:srgbClr val="BDA07D"/>
    <a:srgbClr val="F5F9F9"/>
    <a:srgbClr val="627272"/>
    <a:srgbClr val="3E709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7292A2E-F333-43FB-9621-5CBBE7FDCDCB}">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238" autoAdjust="0"/>
  </p:normalViewPr>
  <p:slideViewPr>
    <p:cSldViewPr snapToGrid="0">
      <p:cViewPr varScale="1">
        <p:scale>
          <a:sx n="82" d="100"/>
          <a:sy n="82" d="100"/>
        </p:scale>
        <p:origin x="720"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AF03AE-1CC2-475F-B909-50970E9699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B63C45E-73BA-4C86-A24F-A5006B4E7B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37A4CE-17BB-4BB2-AC7B-97495293E2AC}" type="datetimeFigureOut">
              <a:rPr lang="en-US" smtClean="0"/>
              <a:t>7/6/2025</a:t>
            </a:fld>
            <a:endParaRPr lang="en-US" dirty="0"/>
          </a:p>
        </p:txBody>
      </p:sp>
      <p:sp>
        <p:nvSpPr>
          <p:cNvPr id="4" name="Footer Placeholder 3">
            <a:extLst>
              <a:ext uri="{FF2B5EF4-FFF2-40B4-BE49-F238E27FC236}">
                <a16:creationId xmlns:a16="http://schemas.microsoft.com/office/drawing/2014/main" id="{D71DB874-DF6A-4AFA-8055-4AD7EE4CE3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677078F-04CB-4625-B536-5BCAA2EC6C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0EF92D-82DD-4142-BCE8-036B91487D2E}" type="slidenum">
              <a:rPr lang="en-US" smtClean="0"/>
              <a:t>‹#›</a:t>
            </a:fld>
            <a:endParaRPr lang="en-US" dirty="0"/>
          </a:p>
        </p:txBody>
      </p:sp>
    </p:spTree>
    <p:extLst>
      <p:ext uri="{BB962C8B-B14F-4D97-AF65-F5344CB8AC3E}">
        <p14:creationId xmlns:p14="http://schemas.microsoft.com/office/powerpoint/2010/main" val="757070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6C8F5-2FDA-4718-81AA-24F4816BBD56}" type="datetimeFigureOut">
              <a:rPr lang="en-US" smtClean="0"/>
              <a:t>7/6/2025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8EC616-C518-4358-9496-6C33B2F5FA56}" type="slidenum">
              <a:rPr lang="en-US" smtClean="0"/>
              <a:t>‹#›</a:t>
            </a:fld>
            <a:endParaRPr lang="en-US" dirty="0"/>
          </a:p>
        </p:txBody>
      </p:sp>
    </p:spTree>
    <p:extLst>
      <p:ext uri="{BB962C8B-B14F-4D97-AF65-F5344CB8AC3E}">
        <p14:creationId xmlns:p14="http://schemas.microsoft.com/office/powerpoint/2010/main" val="173232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1A476F7-D5C8-1CEC-9F4A-86A24C0BF39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455" t="5126"/>
          <a:stretch/>
        </p:blipFill>
        <p:spPr>
          <a:xfrm>
            <a:off x="0" y="0"/>
            <a:ext cx="5423337" cy="5356522"/>
          </a:xfrm>
          <a:prstGeom prst="rect">
            <a:avLst/>
          </a:prstGeom>
        </p:spPr>
      </p:pic>
      <p:pic>
        <p:nvPicPr>
          <p:cNvPr id="3" name="Graphic 2">
            <a:extLst>
              <a:ext uri="{FF2B5EF4-FFF2-40B4-BE49-F238E27FC236}">
                <a16:creationId xmlns:a16="http://schemas.microsoft.com/office/drawing/2014/main" id="{D0CBB0B7-F53E-97B4-C0F5-2D1842F1D23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214735" y="726953"/>
            <a:ext cx="3069021" cy="2381688"/>
          </a:xfrm>
          <a:prstGeom prst="rect">
            <a:avLst/>
          </a:prstGeom>
        </p:spPr>
      </p:pic>
      <p:sp>
        <p:nvSpPr>
          <p:cNvPr id="4" name="Rectangle 3">
            <a:extLst>
              <a:ext uri="{FF2B5EF4-FFF2-40B4-BE49-F238E27FC236}">
                <a16:creationId xmlns:a16="http://schemas.microsoft.com/office/drawing/2014/main" id="{EABE1252-9BC4-8186-499A-2A7107C2945E}"/>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4873752"/>
          </a:xfrm>
          <a:prstGeom prst="rect">
            <a:avLst/>
          </a:prstGeom>
        </p:spPr>
        <p:txBody>
          <a:bodyPr anchor="b"/>
          <a:lstStyle>
            <a:lvl1pPr>
              <a:lnSpc>
                <a:spcPct val="100000"/>
              </a:lnSpc>
              <a:defRPr sz="50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5568696"/>
            <a:ext cx="5276088" cy="859536"/>
          </a:xfrm>
          <a:prstGeom prst="rect">
            <a:avLst/>
          </a:prstGeom>
        </p:spPr>
        <p:txBody>
          <a:bodyPr anchor="t"/>
          <a:lstStyle>
            <a:lvl1pPr marL="0" indent="0">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48124"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2779708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FED2A3BD-B73E-1BD7-6B8B-22C9FB12483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10800000">
            <a:off x="0" y="671161"/>
            <a:ext cx="3089740" cy="4876799"/>
          </a:xfrm>
          <a:prstGeom prst="rect">
            <a:avLst/>
          </a:prstGeom>
        </p:spPr>
      </p:pic>
      <p:sp>
        <p:nvSpPr>
          <p:cNvPr id="8" name="Rectangle 7">
            <a:extLst>
              <a:ext uri="{FF2B5EF4-FFF2-40B4-BE49-F238E27FC236}">
                <a16:creationId xmlns:a16="http://schemas.microsoft.com/office/drawing/2014/main" id="{0B3FCFB4-857F-ED0B-D469-F2A392F06BE2}"/>
              </a:ext>
              <a:ext uri="{C183D7F6-B498-43B3-948B-1728B52AA6E4}">
                <adec:decorative xmlns:adec="http://schemas.microsoft.com/office/drawing/2017/decorative" val="1"/>
              </a:ext>
            </a:extLst>
          </p:cNvPr>
          <p:cNvSpPr/>
          <p:nvPr userDrawn="1"/>
        </p:nvSpPr>
        <p:spPr>
          <a:xfrm>
            <a:off x="10142482" y="0"/>
            <a:ext cx="204951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E0604BC-34A9-95A0-8560-88E7547176F4}"/>
              </a:ext>
              <a:ext uri="{C183D7F6-B498-43B3-948B-1728B52AA6E4}">
                <adec:decorative xmlns:adec="http://schemas.microsoft.com/office/drawing/2017/decorative" val="1"/>
              </a:ext>
            </a:extLst>
          </p:cNvPr>
          <p:cNvSpPr/>
          <p:nvPr userDrawn="1"/>
        </p:nvSpPr>
        <p:spPr>
          <a:xfrm flipH="1">
            <a:off x="9911255"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FF2F08ED-0715-2E8A-476E-A005A7D75B5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9013145" y="4934929"/>
            <a:ext cx="1841938" cy="968936"/>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68096" y="667512"/>
            <a:ext cx="3291840" cy="5513832"/>
          </a:xfrm>
          <a:solidFill>
            <a:schemeClr val="bg1">
              <a:lumMod val="95000"/>
            </a:schemeClr>
          </a:solidFill>
        </p:spPr>
        <p:txBody>
          <a:body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239512" y="667512"/>
            <a:ext cx="4105656" cy="5568696"/>
          </a:xfrm>
          <a:solidFill>
            <a:schemeClr val="bg1">
              <a:lumMod val="95000"/>
            </a:schemeClr>
          </a:solidFill>
        </p:spPr>
        <p:txBody>
          <a:bodyPr anchor="ctr" anchorCtr="0"/>
          <a:lstStyle>
            <a:lvl1pPr>
              <a:lnSpc>
                <a:spcPct val="15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61931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image lef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48277F-DB00-5149-6533-E8AEF0BAD4D5}"/>
              </a:ext>
              <a:ext uri="{C183D7F6-B498-43B3-948B-1728B52AA6E4}">
                <adec:decorative xmlns:adec="http://schemas.microsoft.com/office/drawing/2017/decorative" val="1"/>
              </a:ext>
            </a:extLst>
          </p:cNvPr>
          <p:cNvSpPr/>
          <p:nvPr userDrawn="1"/>
        </p:nvSpPr>
        <p:spPr>
          <a:xfrm>
            <a:off x="3573518"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8067A69A-84EE-0E71-D053-F462EBCC8E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63520"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6099048" y="658368"/>
            <a:ext cx="5486400" cy="3621024"/>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30936" y="576072"/>
            <a:ext cx="4023360" cy="5495544"/>
          </a:xfrm>
          <a:prstGeom prst="rect">
            <a:avLst/>
          </a:prstGeom>
        </p:spPr>
        <p:txBody>
          <a:bodyPr/>
          <a:lstStyle>
            <a:lvl1pPr marL="0" indent="0" algn="ctr">
              <a:buNone/>
              <a:defRPr spc="400" baseline="0"/>
            </a:lvl1pPr>
          </a:lstStyle>
          <a:p>
            <a:r>
              <a:rPr lang="en-US" dirty="0"/>
              <a:t>Click to add photo</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6099048" y="4553712"/>
            <a:ext cx="5486400" cy="1005840"/>
          </a:xfrm>
          <a:prstGeom prst="rect">
            <a:avLst/>
          </a:prstGeom>
          <a:solidFill>
            <a:schemeClr val="bg1">
              <a:lumMod val="9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Tree>
    <p:extLst>
      <p:ext uri="{BB962C8B-B14F-4D97-AF65-F5344CB8AC3E}">
        <p14:creationId xmlns:p14="http://schemas.microsoft.com/office/powerpoint/2010/main" val="3451331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17B23C3-2F98-4465-21EA-A49296DA1F6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5400000">
            <a:off x="7746274" y="2898378"/>
            <a:ext cx="3089740" cy="4876799"/>
          </a:xfrm>
          <a:prstGeom prst="rect">
            <a:avLst/>
          </a:prstGeom>
        </p:spPr>
      </p:pic>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149840"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4370832" cy="3776472"/>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6099048" y="2112264"/>
            <a:ext cx="4370832"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063786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image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7C8AFE-E640-9C6A-F20C-CDE1D4EF5745}"/>
              </a:ext>
              <a:ext uri="{C183D7F6-B498-43B3-948B-1728B52AA6E4}">
                <adec:decorative xmlns:adec="http://schemas.microsoft.com/office/drawing/2017/decorative" val="1"/>
              </a:ext>
            </a:extLst>
          </p:cNvPr>
          <p:cNvSpPr/>
          <p:nvPr userDrawn="1"/>
        </p:nvSpPr>
        <p:spPr>
          <a:xfrm>
            <a:off x="9627476"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31CF2607-B5C7-9992-C51D-DD5E7FC5FB3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279827" y="3157140"/>
            <a:ext cx="2438400" cy="2070100"/>
          </a:xfrm>
          <a:prstGeom prst="rect">
            <a:avLst/>
          </a:prstGeom>
        </p:spPr>
      </p:pic>
      <p:pic>
        <p:nvPicPr>
          <p:cNvPr id="4" name="Graphic 3">
            <a:extLst>
              <a:ext uri="{FF2B5EF4-FFF2-40B4-BE49-F238E27FC236}">
                <a16:creationId xmlns:a16="http://schemas.microsoft.com/office/drawing/2014/main" id="{6D2F83CD-8345-462A-4412-5A54CB1FDDE3}"/>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8916"/>
          <a:stretch/>
        </p:blipFill>
        <p:spPr>
          <a:xfrm>
            <a:off x="0" y="3950466"/>
            <a:ext cx="3005804" cy="2224362"/>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85800"/>
            <a:ext cx="5486400" cy="3383280"/>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343400"/>
            <a:ext cx="5486400" cy="1005840"/>
          </a:xfrm>
          <a:prstGeom prst="rect">
            <a:avLst/>
          </a:prstGeom>
          <a:solidFill>
            <a:schemeClr val="tx1">
              <a:alpha val="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684264" y="576072"/>
            <a:ext cx="4023360" cy="5495544"/>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1306737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3419856" cy="3776472"/>
          </a:xfrm>
          <a:solidFill>
            <a:schemeClr val="tx1">
              <a:alpha val="5000"/>
            </a:schemeClr>
          </a:solidFill>
        </p:spPr>
        <p:txBody>
          <a:bodyPr rIns="45720" anchor="t" anchorCtr="0">
            <a:normAutofit/>
          </a:bodyPr>
          <a:lstStyle>
            <a:lvl1pPr>
              <a:spcAft>
                <a:spcPts val="1800"/>
              </a:spcAft>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4864608" y="2093976"/>
            <a:ext cx="6382512" cy="3749040"/>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pic>
        <p:nvPicPr>
          <p:cNvPr id="10" name="Graphic 9">
            <a:extLst>
              <a:ext uri="{FF2B5EF4-FFF2-40B4-BE49-F238E27FC236}">
                <a16:creationId xmlns:a16="http://schemas.microsoft.com/office/drawing/2014/main" id="{CB897DD0-4462-B31B-50A9-D399FD0F589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3529"/>
          <a:stretch/>
        </p:blipFill>
        <p:spPr>
          <a:xfrm>
            <a:off x="3815" y="4389845"/>
            <a:ext cx="5024198" cy="2463772"/>
          </a:xfrm>
          <a:prstGeom prst="rect">
            <a:avLst/>
          </a:prstGeom>
        </p:spPr>
      </p:pic>
    </p:spTree>
    <p:extLst>
      <p:ext uri="{BB962C8B-B14F-4D97-AF65-F5344CB8AC3E}">
        <p14:creationId xmlns:p14="http://schemas.microsoft.com/office/powerpoint/2010/main" val="3645425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5EA319-BD06-493B-D1CD-EC2AF739443B}"/>
              </a:ext>
              <a:ext uri="{C183D7F6-B498-43B3-948B-1728B52AA6E4}">
                <adec:decorative xmlns:adec="http://schemas.microsoft.com/office/drawing/2017/decorative" val="1"/>
              </a:ext>
            </a:extLst>
          </p:cNvPr>
          <p:cNvSpPr/>
          <p:nvPr userDrawn="1"/>
        </p:nvSpPr>
        <p:spPr>
          <a:xfrm>
            <a:off x="7547991" y="0"/>
            <a:ext cx="1703832"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8560446E-E817-5E2A-D76A-43A4168EF1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7246669" y="4842646"/>
            <a:ext cx="1611949" cy="1853259"/>
          </a:xfrm>
          <a:prstGeom prst="rect">
            <a:avLst/>
          </a:prstGeom>
        </p:spPr>
      </p:pic>
      <p:sp>
        <p:nvSpPr>
          <p:cNvPr id="10" name="Title 1">
            <a:extLst>
              <a:ext uri="{FF2B5EF4-FFF2-40B4-BE49-F238E27FC236}">
                <a16:creationId xmlns:a16="http://schemas.microsoft.com/office/drawing/2014/main" id="{17DC846D-C40C-085A-6A57-EBD733E9C244}"/>
              </a:ext>
            </a:extLst>
          </p:cNvPr>
          <p:cNvSpPr>
            <a:spLocks noGrp="1"/>
          </p:cNvSpPr>
          <p:nvPr>
            <p:ph type="title"/>
          </p:nvPr>
        </p:nvSpPr>
        <p:spPr>
          <a:xfrm>
            <a:off x="777240" y="365760"/>
            <a:ext cx="6291072" cy="2670048"/>
          </a:xfrm>
          <a:solidFill>
            <a:schemeClr val="bg1">
              <a:lumMod val="95000"/>
            </a:schemeClr>
          </a:solidFill>
        </p:spPr>
        <p:txBody>
          <a:bodyPr/>
          <a:lstStyle>
            <a:lvl1pPr>
              <a:defRPr baseline="0"/>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0F5F674E-A7FF-FC97-AC6B-9E98247F633F}"/>
              </a:ext>
            </a:extLst>
          </p:cNvPr>
          <p:cNvSpPr>
            <a:spLocks noGrp="1"/>
          </p:cNvSpPr>
          <p:nvPr>
            <p:ph idx="1"/>
          </p:nvPr>
        </p:nvSpPr>
        <p:spPr>
          <a:xfrm>
            <a:off x="777240" y="3346704"/>
            <a:ext cx="6016752" cy="2670048"/>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10">
            <a:extLst>
              <a:ext uri="{FF2B5EF4-FFF2-40B4-BE49-F238E27FC236}">
                <a16:creationId xmlns:a16="http://schemas.microsoft.com/office/drawing/2014/main" id="{F3752326-0FB4-41C5-2D91-5CBFDC2DAD85}"/>
              </a:ext>
            </a:extLst>
          </p:cNvPr>
          <p:cNvSpPr>
            <a:spLocks noGrp="1"/>
          </p:cNvSpPr>
          <p:nvPr>
            <p:ph type="pic" sz="quarter" idx="13" hasCustomPrompt="1"/>
          </p:nvPr>
        </p:nvSpPr>
        <p:spPr>
          <a:xfrm>
            <a:off x="7818120" y="950976"/>
            <a:ext cx="4050792" cy="4965192"/>
          </a:xfrm>
          <a:prstGeom prst="rect">
            <a:avLst/>
          </a:prstGeom>
        </p:spPr>
        <p:txBody>
          <a:bodyPr/>
          <a:lstStyle>
            <a:lvl1pPr marL="0" indent="0" algn="ctr">
              <a:buNone/>
              <a:defRPr spc="400" baseline="0"/>
            </a:lvl1pPr>
          </a:lstStyle>
          <a:p>
            <a:r>
              <a:rPr lang="en-US" dirty="0"/>
              <a:t>Click to add photo</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271592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14BC85D4-4139-2AAA-166E-6FBA095A8B1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455" t="5126"/>
          <a:stretch/>
        </p:blipFill>
        <p:spPr>
          <a:xfrm>
            <a:off x="0" y="1729776"/>
            <a:ext cx="5423337" cy="5356522"/>
          </a:xfrm>
          <a:prstGeom prst="rect">
            <a:avLst/>
          </a:prstGeom>
        </p:spPr>
      </p:pic>
      <p:sp>
        <p:nvSpPr>
          <p:cNvPr id="13" name="Rectangle 12">
            <a:extLst>
              <a:ext uri="{FF2B5EF4-FFF2-40B4-BE49-F238E27FC236}">
                <a16:creationId xmlns:a16="http://schemas.microsoft.com/office/drawing/2014/main" id="{A931BC73-A262-809F-6027-25B33F16B5F3}"/>
              </a:ext>
              <a:ext uri="{C183D7F6-B498-43B3-948B-1728B52AA6E4}">
                <adec:decorative xmlns:adec="http://schemas.microsoft.com/office/drawing/2017/decorative" val="1"/>
              </a:ext>
            </a:extLst>
          </p:cNvPr>
          <p:cNvSpPr/>
          <p:nvPr userDrawn="1"/>
        </p:nvSpPr>
        <p:spPr>
          <a:xfrm>
            <a:off x="10941270" y="0"/>
            <a:ext cx="1250729"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FAEA2C9-0142-1847-0FE5-307C101C610D}"/>
              </a:ext>
              <a:ext uri="{C183D7F6-B498-43B3-948B-1728B52AA6E4}">
                <adec:decorative xmlns:adec="http://schemas.microsoft.com/office/drawing/2017/decorative" val="1"/>
              </a:ext>
            </a:extLst>
          </p:cNvPr>
          <p:cNvSpPr/>
          <p:nvPr userDrawn="1"/>
        </p:nvSpPr>
        <p:spPr>
          <a:xfrm flipH="1">
            <a:off x="10683241"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
            <a:extLst>
              <a:ext uri="{FF2B5EF4-FFF2-40B4-BE49-F238E27FC236}">
                <a16:creationId xmlns:a16="http://schemas.microsoft.com/office/drawing/2014/main" id="{6007DF4F-A4F8-98C7-5975-55CBED0DB375}"/>
              </a:ext>
            </a:extLst>
          </p:cNvPr>
          <p:cNvSpPr>
            <a:spLocks noGrp="1"/>
          </p:cNvSpPr>
          <p:nvPr>
            <p:ph type="title"/>
          </p:nvPr>
        </p:nvSpPr>
        <p:spPr>
          <a:xfrm>
            <a:off x="777240" y="667512"/>
            <a:ext cx="3621024" cy="5513832"/>
          </a:xfrm>
          <a:solidFill>
            <a:schemeClr val="bg1">
              <a:lumMod val="95000"/>
            </a:schemeClr>
          </a:solidFill>
        </p:spPr>
        <p:txBody>
          <a:bodyPr/>
          <a:lstStyle/>
          <a:p>
            <a:r>
              <a:rPr lang="en-US"/>
              <a:t>Click to edit Master title style</a:t>
            </a:r>
          </a:p>
        </p:txBody>
      </p:sp>
      <p:sp>
        <p:nvSpPr>
          <p:cNvPr id="16" name="Content Placeholder 2">
            <a:extLst>
              <a:ext uri="{FF2B5EF4-FFF2-40B4-BE49-F238E27FC236}">
                <a16:creationId xmlns:a16="http://schemas.microsoft.com/office/drawing/2014/main" id="{659D4968-2C08-763C-19C6-59134968556A}"/>
              </a:ext>
            </a:extLst>
          </p:cNvPr>
          <p:cNvSpPr>
            <a:spLocks noGrp="1"/>
          </p:cNvSpPr>
          <p:nvPr>
            <p:ph idx="1"/>
          </p:nvPr>
        </p:nvSpPr>
        <p:spPr>
          <a:xfrm>
            <a:off x="4846320" y="1161288"/>
            <a:ext cx="5276088" cy="4535424"/>
          </a:xfrm>
          <a:solidFill>
            <a:schemeClr val="bg1">
              <a:lumMod val="95000"/>
            </a:schemeClr>
          </a:solidFill>
        </p:spPr>
        <p:txBody>
          <a:bodyPr anchor="t" anchorCtr="0">
            <a:normAutofit/>
          </a:bodyPr>
          <a:lstStyle>
            <a:lvl1pPr marL="457200" indent="-457200">
              <a:lnSpc>
                <a:spcPct val="80000"/>
              </a:lnSpc>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714500" indent="-342900">
              <a:buFont typeface="+mj-lt"/>
              <a:buAutoNum type="alphaLcParenR"/>
              <a:defRPr sz="1400"/>
            </a:lvl4pPr>
            <a:lvl5pPr marL="2228850" indent="-400050">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141534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F0B854-EF27-FB51-FED5-D9C462D789D0}"/>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7AAF96D3-D3E2-FEAC-EE69-279502A579CE}"/>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FFA9ADD0-45A7-DB71-D010-70B5B174CC7B}"/>
              </a:ext>
            </a:extLst>
          </p:cNvPr>
          <p:cNvSpPr>
            <a:spLocks noGrp="1"/>
          </p:cNvSpPr>
          <p:nvPr>
            <p:ph idx="1"/>
          </p:nvPr>
        </p:nvSpPr>
        <p:spPr>
          <a:xfrm>
            <a:off x="777240" y="2093976"/>
            <a:ext cx="2880360" cy="3776472"/>
          </a:xfrm>
          <a:solidFill>
            <a:schemeClr val="tx1">
              <a:alpha val="5000"/>
            </a:schemeClr>
          </a:solidFill>
        </p:spPr>
        <p:txBody>
          <a:bodyPr rIns="45720" anchor="t" anchorCtr="0">
            <a:normAutofit/>
          </a:bodyPr>
          <a:lstStyle>
            <a:lvl1pPr>
              <a:spcAft>
                <a:spcPts val="1800"/>
              </a:spcAft>
              <a:defRPr sz="20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D4ECD368-DD7D-CC8B-3678-D0BFE829181C}"/>
              </a:ext>
            </a:extLst>
          </p:cNvPr>
          <p:cNvSpPr>
            <a:spLocks noGrp="1"/>
          </p:cNvSpPr>
          <p:nvPr>
            <p:ph idx="13"/>
          </p:nvPr>
        </p:nvSpPr>
        <p:spPr>
          <a:xfrm>
            <a:off x="4261104" y="2093976"/>
            <a:ext cx="6967728"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35964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3F9824-10E6-81A0-0A31-9658CC0091BE}"/>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3002FB0-0A62-2FA3-FB8D-3275F1072D07}"/>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4B5BF220-87F8-C1D3-102B-15C9BF2EE478}"/>
              </a:ext>
            </a:extLst>
          </p:cNvPr>
          <p:cNvSpPr>
            <a:spLocks noGrp="1"/>
          </p:cNvSpPr>
          <p:nvPr>
            <p:ph idx="13"/>
          </p:nvPr>
        </p:nvSpPr>
        <p:spPr>
          <a:xfrm>
            <a:off x="804672" y="2093976"/>
            <a:ext cx="10469880"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91047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E4764D-8226-78DF-9303-299C95FA31F7}"/>
              </a:ext>
              <a:ext uri="{C183D7F6-B498-43B3-948B-1728B52AA6E4}">
                <adec:decorative xmlns:adec="http://schemas.microsoft.com/office/drawing/2017/decorative" val="1"/>
              </a:ext>
            </a:extLst>
          </p:cNvPr>
          <p:cNvSpPr/>
          <p:nvPr userDrawn="1"/>
        </p:nvSpPr>
        <p:spPr>
          <a:xfrm>
            <a:off x="3598984" y="0"/>
            <a:ext cx="133643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77C27D79-5B49-F06F-29C2-BF642952740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53477" y="5154421"/>
            <a:ext cx="3279227" cy="1229710"/>
          </a:xfrm>
          <a:prstGeom prst="rect">
            <a:avLst/>
          </a:prstGeom>
        </p:spPr>
      </p:pic>
      <p:pic>
        <p:nvPicPr>
          <p:cNvPr id="11" name="Graphic 10">
            <a:extLst>
              <a:ext uri="{FF2B5EF4-FFF2-40B4-BE49-F238E27FC236}">
                <a16:creationId xmlns:a16="http://schemas.microsoft.com/office/drawing/2014/main" id="{1545B34A-525D-FD4C-2384-D583B495C03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55" t="5126"/>
          <a:stretch/>
        </p:blipFill>
        <p:spPr>
          <a:xfrm flipH="1">
            <a:off x="6768663" y="1729776"/>
            <a:ext cx="5423337" cy="5356522"/>
          </a:xfrm>
          <a:prstGeom prst="rect">
            <a:avLst/>
          </a:prstGeom>
        </p:spPr>
      </p:pic>
      <p:sp>
        <p:nvSpPr>
          <p:cNvPr id="7" name="Title 6">
            <a:extLst>
              <a:ext uri="{FF2B5EF4-FFF2-40B4-BE49-F238E27FC236}">
                <a16:creationId xmlns:a16="http://schemas.microsoft.com/office/drawing/2014/main" id="{1B59FA15-E93F-D07D-D82B-86E08C540E92}"/>
              </a:ext>
            </a:extLst>
          </p:cNvPr>
          <p:cNvSpPr>
            <a:spLocks noGrp="1"/>
          </p:cNvSpPr>
          <p:nvPr>
            <p:ph type="title" hasCustomPrompt="1"/>
          </p:nvPr>
        </p:nvSpPr>
        <p:spPr>
          <a:xfrm>
            <a:off x="5632704" y="795528"/>
            <a:ext cx="6099048" cy="5120640"/>
          </a:xfrm>
          <a:prstGeom prst="rect">
            <a:avLst/>
          </a:prstGeom>
          <a:solidFill>
            <a:schemeClr val="tx1">
              <a:alpha val="5000"/>
            </a:schemeClr>
          </a:solidFill>
        </p:spPr>
        <p:txBody>
          <a:bodyPr anchor="ctr"/>
          <a:lstStyle>
            <a:lvl1pPr>
              <a:lnSpc>
                <a:spcPct val="90000"/>
              </a:lnSpc>
              <a:defRPr sz="4800" cap="all" spc="0" baseline="0"/>
            </a:lvl1pPr>
          </a:lstStyle>
          <a:p>
            <a:r>
              <a:rPr lang="en-US" dirty="0"/>
              <a:t>Click to add title</a:t>
            </a:r>
          </a:p>
        </p:txBody>
      </p:sp>
      <p:sp>
        <p:nvSpPr>
          <p:cNvPr id="8" name="Picture Placeholder 10">
            <a:extLst>
              <a:ext uri="{FF2B5EF4-FFF2-40B4-BE49-F238E27FC236}">
                <a16:creationId xmlns:a16="http://schemas.microsoft.com/office/drawing/2014/main" id="{4F1B2B40-3852-2BC5-AA67-3AC0C94B5350}"/>
              </a:ext>
            </a:extLst>
          </p:cNvPr>
          <p:cNvSpPr>
            <a:spLocks noGrp="1"/>
          </p:cNvSpPr>
          <p:nvPr>
            <p:ph type="pic" sz="quarter" idx="13" hasCustomPrompt="1"/>
          </p:nvPr>
        </p:nvSpPr>
        <p:spPr>
          <a:xfrm>
            <a:off x="576072" y="950976"/>
            <a:ext cx="4050792" cy="4965192"/>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4185421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6177962F-BF83-8BF0-521C-AC2FE18512C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5400000">
            <a:off x="7746274" y="2898378"/>
            <a:ext cx="3089740" cy="4876799"/>
          </a:xfrm>
          <a:prstGeom prst="rect">
            <a:avLst/>
          </a:prstGeom>
        </p:spPr>
      </p:pic>
      <p:sp>
        <p:nvSpPr>
          <p:cNvPr id="7" name="Rectangle 6">
            <a:extLst>
              <a:ext uri="{FF2B5EF4-FFF2-40B4-BE49-F238E27FC236}">
                <a16:creationId xmlns:a16="http://schemas.microsoft.com/office/drawing/2014/main" id="{5D003ACC-3116-807F-81D2-E8057D4C2C0F}"/>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B43485B2-AA3A-87CC-3B1B-A193C6EB5985}"/>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16EF9689-52F4-4A6F-BEAC-E0B840C117B5}"/>
              </a:ext>
            </a:extLst>
          </p:cNvPr>
          <p:cNvSpPr>
            <a:spLocks noGrp="1"/>
          </p:cNvSpPr>
          <p:nvPr>
            <p:ph idx="1"/>
          </p:nvPr>
        </p:nvSpPr>
        <p:spPr>
          <a:xfrm>
            <a:off x="777240" y="2093976"/>
            <a:ext cx="5833872" cy="3776472"/>
          </a:xfrm>
          <a:solidFill>
            <a:schemeClr val="bg1">
              <a:lumMod val="95000"/>
            </a:schemeClr>
          </a:solidFill>
        </p:spPr>
        <p:txBody>
          <a:bodyPr rIns="91440" anchor="t" anchorCtr="0">
            <a:normAutofit/>
          </a:bodyPr>
          <a:lstStyle>
            <a:lvl1pPr marL="457200" indent="-457200">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828800" indent="-457200">
              <a:buFont typeface="+mj-lt"/>
              <a:buAutoNum type="alphaLcParenR"/>
              <a:defRPr sz="1400"/>
            </a:lvl4pPr>
            <a:lvl5pPr marL="2286000" indent="-457200">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DB532826-83B5-DC67-7DDB-45FD78E830A1}"/>
              </a:ext>
            </a:extLst>
          </p:cNvPr>
          <p:cNvSpPr>
            <a:spLocks noGrp="1"/>
          </p:cNvSpPr>
          <p:nvPr>
            <p:ph idx="13"/>
          </p:nvPr>
        </p:nvSpPr>
        <p:spPr>
          <a:xfrm>
            <a:off x="7306056" y="2093976"/>
            <a:ext cx="3172968"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421904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47051E-220B-9586-3E85-05AF9DC9B680}"/>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68FA6629-B230-F528-AAE3-D182D963F05E}"/>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10800000">
            <a:off x="0" y="671161"/>
            <a:ext cx="3089740" cy="4876799"/>
          </a:xfrm>
          <a:prstGeom prst="rect">
            <a:avLst/>
          </a:prstGeom>
        </p:spPr>
      </p:pic>
      <p:pic>
        <p:nvPicPr>
          <p:cNvPr id="8" name="Graphic 7">
            <a:extLst>
              <a:ext uri="{FF2B5EF4-FFF2-40B4-BE49-F238E27FC236}">
                <a16:creationId xmlns:a16="http://schemas.microsoft.com/office/drawing/2014/main" id="{7FA0390C-256A-CE3C-1348-C39DBAE01D8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237644"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3666744"/>
          </a:xfrm>
          <a:prstGeom prst="rect">
            <a:avLst/>
          </a:prstGeom>
        </p:spPr>
        <p:txBody>
          <a:bodyPr anchor="b">
            <a:normAutofit/>
          </a:bodyPr>
          <a:lstStyle>
            <a:lvl1pPr>
              <a:lnSpc>
                <a:spcPct val="100000"/>
              </a:lnSpc>
              <a:defRPr sz="48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636008"/>
            <a:ext cx="5276088" cy="1554480"/>
          </a:xfrm>
          <a:prstGeom prst="rect">
            <a:avLst/>
          </a:prstGeom>
        </p:spPr>
        <p:txBody>
          <a:bodyPr anchor="t"/>
          <a:lstStyle>
            <a:lvl1pPr marL="0" indent="0">
              <a:spcAft>
                <a:spcPts val="600"/>
              </a:spcAft>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23360"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553565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FB4E19-B10C-43FA-AB4B-5D0396BD64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cap="all" spc="150" baseline="0">
                <a:solidFill>
                  <a:schemeClr val="accent4">
                    <a:lumMod val="75000"/>
                  </a:schemeClr>
                </a:solidFill>
              </a:defRPr>
            </a:lvl1pPr>
          </a:lstStyle>
          <a:p>
            <a:r>
              <a:rPr lang="en-US" dirty="0"/>
              <a:t>20XX</a:t>
            </a:r>
          </a:p>
        </p:txBody>
      </p:sp>
      <p:sp>
        <p:nvSpPr>
          <p:cNvPr id="5" name="Footer Placeholder 4">
            <a:extLst>
              <a:ext uri="{FF2B5EF4-FFF2-40B4-BE49-F238E27FC236}">
                <a16:creationId xmlns:a16="http://schemas.microsoft.com/office/drawing/2014/main" id="{3E5C552B-0CAD-4920-B258-233A9F86DF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150" baseline="0">
                <a:solidFill>
                  <a:schemeClr val="accent4">
                    <a:lumMod val="75000"/>
                  </a:schemeClr>
                </a:solidFill>
              </a:defRPr>
            </a:lvl1pPr>
          </a:lstStyle>
          <a:p>
            <a:endParaRPr lang="en-US" dirty="0"/>
          </a:p>
        </p:txBody>
      </p:sp>
      <p:sp>
        <p:nvSpPr>
          <p:cNvPr id="6" name="Slide Number Placeholder 5">
            <a:extLst>
              <a:ext uri="{FF2B5EF4-FFF2-40B4-BE49-F238E27FC236}">
                <a16:creationId xmlns:a16="http://schemas.microsoft.com/office/drawing/2014/main" id="{CE983FFB-15A3-4B11-A130-4565577A3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cap="all" spc="150" baseline="0">
                <a:solidFill>
                  <a:schemeClr val="accent4">
                    <a:lumMod val="75000"/>
                  </a:schemeClr>
                </a:solidFill>
              </a:defRPr>
            </a:lvl1pPr>
          </a:lstStyle>
          <a:p>
            <a:fld id="{F91729D4-A164-47A3-830D-E792BCE699E4}" type="slidenum">
              <a:rPr lang="en-US" smtClean="0"/>
              <a:pPr/>
              <a:t>‹#›</a:t>
            </a:fld>
            <a:endParaRPr lang="en-US" dirty="0"/>
          </a:p>
        </p:txBody>
      </p:sp>
      <p:sp>
        <p:nvSpPr>
          <p:cNvPr id="2" name="Title Placeholder 1">
            <a:extLst>
              <a:ext uri="{FF2B5EF4-FFF2-40B4-BE49-F238E27FC236}">
                <a16:creationId xmlns:a16="http://schemas.microsoft.com/office/drawing/2014/main" id="{7575F976-A881-DB46-9D98-9D55727C19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9C7589-D4CD-50AB-9AA4-198FD4932D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71090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6" r:id="rId3"/>
    <p:sldLayoutId id="2147483675" r:id="rId4"/>
    <p:sldLayoutId id="2147483683" r:id="rId5"/>
    <p:sldLayoutId id="2147483684" r:id="rId6"/>
    <p:sldLayoutId id="2147483677" r:id="rId7"/>
    <p:sldLayoutId id="2147483678" r:id="rId8"/>
    <p:sldLayoutId id="2147483679" r:id="rId9"/>
    <p:sldLayoutId id="2147483680" r:id="rId10"/>
    <p:sldLayoutId id="2147483681" r:id="rId11"/>
    <p:sldLayoutId id="2147483682" r:id="rId12"/>
    <p:sldLayoutId id="2147483685" r:id="rId13"/>
  </p:sldLayoutIdLst>
  <p:hf hdr="0" ftr="0" dt="0"/>
  <p:txStyles>
    <p:titleStyle>
      <a:lvl1pPr algn="l" defTabSz="914400" rtl="0" eaLnBrk="1" latinLnBrk="0" hangingPunct="1">
        <a:lnSpc>
          <a:spcPct val="90000"/>
        </a:lnSpc>
        <a:spcBef>
          <a:spcPct val="0"/>
        </a:spcBef>
        <a:buNone/>
        <a:defRPr sz="4400" kern="1200">
          <a:solidFill>
            <a:schemeClr val="accent4">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79680-7C22-BFF1-165D-52AB411C0F66}"/>
              </a:ext>
            </a:extLst>
          </p:cNvPr>
          <p:cNvSpPr>
            <a:spLocks noGrp="1"/>
          </p:cNvSpPr>
          <p:nvPr>
            <p:ph type="title"/>
          </p:nvPr>
        </p:nvSpPr>
        <p:spPr>
          <a:xfrm>
            <a:off x="768096" y="667512"/>
            <a:ext cx="5916168" cy="4873752"/>
          </a:xfrm>
        </p:spPr>
        <p:txBody>
          <a:bodyPr/>
          <a:lstStyle/>
          <a:p>
            <a:r>
              <a:rPr lang="en-US" dirty="0"/>
              <a:t>CHOCO DE LUXE CASE STUDY</a:t>
            </a:r>
            <a:br>
              <a:rPr lang="en-US" dirty="0"/>
            </a:br>
            <a:br>
              <a:rPr lang="en-US" dirty="0"/>
            </a:br>
            <a:endParaRPr lang="en-US" dirty="0"/>
          </a:p>
        </p:txBody>
      </p:sp>
      <p:sp>
        <p:nvSpPr>
          <p:cNvPr id="3" name="Text Placeholder 2">
            <a:extLst>
              <a:ext uri="{FF2B5EF4-FFF2-40B4-BE49-F238E27FC236}">
                <a16:creationId xmlns:a16="http://schemas.microsoft.com/office/drawing/2014/main" id="{302F459B-002E-E89C-3A0E-589730DD7197}"/>
              </a:ext>
            </a:extLst>
          </p:cNvPr>
          <p:cNvSpPr>
            <a:spLocks noGrp="1"/>
          </p:cNvSpPr>
          <p:nvPr>
            <p:ph type="body" sz="quarter" idx="10"/>
          </p:nvPr>
        </p:nvSpPr>
        <p:spPr>
          <a:xfrm>
            <a:off x="768096" y="5568696"/>
            <a:ext cx="5276088" cy="859536"/>
          </a:xfrm>
        </p:spPr>
        <p:txBody>
          <a:bodyPr/>
          <a:lstStyle/>
          <a:p>
            <a:r>
              <a:rPr lang="en-US" dirty="0" err="1"/>
              <a:t>Nureni</a:t>
            </a:r>
            <a:r>
              <a:rPr lang="en-US" dirty="0"/>
              <a:t> Tijani</a:t>
            </a:r>
          </a:p>
          <a:p>
            <a:endParaRPr lang="en-US" dirty="0"/>
          </a:p>
        </p:txBody>
      </p:sp>
      <p:pic>
        <p:nvPicPr>
          <p:cNvPr id="8" name="Picture Placeholder 7" descr="A chocolate bar in a red box&#10;&#10;AI-generated content may be incorrect.">
            <a:extLst>
              <a:ext uri="{FF2B5EF4-FFF2-40B4-BE49-F238E27FC236}">
                <a16:creationId xmlns:a16="http://schemas.microsoft.com/office/drawing/2014/main" id="{84C7261E-E877-BB86-2759-84F16E5FCFDE}"/>
              </a:ext>
            </a:extLst>
          </p:cNvPr>
          <p:cNvPicPr>
            <a:picLocks noGrp="1" noChangeAspect="1"/>
          </p:cNvPicPr>
          <p:nvPr>
            <p:ph type="pic" sz="quarter" idx="11"/>
          </p:nvPr>
        </p:nvPicPr>
        <p:blipFill>
          <a:blip r:embed="rId2"/>
          <a:srcRect l="9213" r="9213"/>
          <a:stretch>
            <a:fillRect/>
          </a:stretch>
        </p:blipFill>
        <p:spPr>
          <a:xfrm>
            <a:off x="6372987" y="947737"/>
            <a:ext cx="4048124" cy="4962525"/>
          </a:xfrm>
        </p:spPr>
      </p:pic>
    </p:spTree>
    <p:extLst>
      <p:ext uri="{BB962C8B-B14F-4D97-AF65-F5344CB8AC3E}">
        <p14:creationId xmlns:p14="http://schemas.microsoft.com/office/powerpoint/2010/main" val="3262765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54000">
              <a:schemeClr val="accent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AF76D-A0D2-8179-168C-8025D377329E}"/>
              </a:ext>
            </a:extLst>
          </p:cNvPr>
          <p:cNvSpPr>
            <a:spLocks noGrp="1"/>
          </p:cNvSpPr>
          <p:nvPr>
            <p:ph type="title"/>
          </p:nvPr>
        </p:nvSpPr>
        <p:spPr>
          <a:xfrm>
            <a:off x="419100" y="667512"/>
            <a:ext cx="8926068" cy="942213"/>
          </a:xfrm>
        </p:spPr>
        <p:txBody>
          <a:bodyPr/>
          <a:lstStyle/>
          <a:p>
            <a:r>
              <a:rPr lang="en-US" b="1" dirty="0"/>
              <a:t>Introduction</a:t>
            </a:r>
          </a:p>
        </p:txBody>
      </p:sp>
      <p:sp>
        <p:nvSpPr>
          <p:cNvPr id="3" name="Content Placeholder 2">
            <a:extLst>
              <a:ext uri="{FF2B5EF4-FFF2-40B4-BE49-F238E27FC236}">
                <a16:creationId xmlns:a16="http://schemas.microsoft.com/office/drawing/2014/main" id="{B16F5ACA-5B20-DED2-F6EA-E50B5B17F3AE}"/>
              </a:ext>
            </a:extLst>
          </p:cNvPr>
          <p:cNvSpPr>
            <a:spLocks noGrp="1"/>
          </p:cNvSpPr>
          <p:nvPr>
            <p:ph idx="1"/>
          </p:nvPr>
        </p:nvSpPr>
        <p:spPr>
          <a:xfrm>
            <a:off x="419100" y="1838326"/>
            <a:ext cx="8926068" cy="4397882"/>
          </a:xfrm>
        </p:spPr>
        <p:txBody>
          <a:bodyPr>
            <a:normAutofit fontScale="85000" lnSpcReduction="10000"/>
          </a:bodyPr>
          <a:lstStyle/>
          <a:p>
            <a:r>
              <a:rPr lang="en-US" sz="2000" dirty="0"/>
              <a:t>Choco de Luxe is a premium artisanal chocolate brand based in Brussels, Belgium, with a growing presence across multiple European cities. The company offers a diverse portfolio of chocolate products through retail stores, online platforms, and supermarkets.</a:t>
            </a:r>
          </a:p>
          <a:p>
            <a:r>
              <a:rPr lang="en-US" sz="2000" dirty="0"/>
              <a:t>Despite a strong market presence and product quality, Choco de Luxe has faced challenges in understanding sales performance across different locations, channels, and product lines. Business leaders have identified a critical need for </a:t>
            </a:r>
            <a:r>
              <a:rPr lang="en-US" sz="2000" b="1" dirty="0"/>
              <a:t>data-driven insights</a:t>
            </a:r>
            <a:r>
              <a:rPr lang="en-US" sz="2000" dirty="0"/>
              <a:t> to guide decision-making and improve efficiency.</a:t>
            </a:r>
          </a:p>
          <a:p>
            <a:r>
              <a:rPr lang="en-US" sz="2000" dirty="0">
                <a:latin typeface="Segoe UI Semibold" panose="020B0702040204020203" pitchFamily="34" charset="0"/>
                <a:cs typeface="Segoe UI Semibold" panose="020B0702040204020203" pitchFamily="34" charset="0"/>
              </a:rPr>
              <a:t>This document provides a detailed insight into Choco De Luxes' Sales Performance, Channel Effectiveness, Sales Team Performance, Product and Pricing Strategy, and Organic Product Demand</a:t>
            </a:r>
            <a:r>
              <a:rPr lang="en-US" sz="2000" dirty="0"/>
              <a:t>. </a:t>
            </a:r>
          </a:p>
          <a:p>
            <a:endParaRPr lang="en-US" sz="800" dirty="0"/>
          </a:p>
        </p:txBody>
      </p:sp>
      <p:sp>
        <p:nvSpPr>
          <p:cNvPr id="5" name="Slide Number Placeholder 4">
            <a:extLst>
              <a:ext uri="{FF2B5EF4-FFF2-40B4-BE49-F238E27FC236}">
                <a16:creationId xmlns:a16="http://schemas.microsoft.com/office/drawing/2014/main" id="{269330A5-9701-4D21-4CCC-742D1F9B425E}"/>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2</a:t>
            </a:fld>
            <a:endParaRPr lang="en-US" dirty="0"/>
          </a:p>
        </p:txBody>
      </p:sp>
    </p:spTree>
    <p:extLst>
      <p:ext uri="{BB962C8B-B14F-4D97-AF65-F5344CB8AC3E}">
        <p14:creationId xmlns:p14="http://schemas.microsoft.com/office/powerpoint/2010/main" val="852209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54000">
              <a:schemeClr val="accent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99B05-C604-092A-7393-1520DFBF0872}"/>
              </a:ext>
            </a:extLst>
          </p:cNvPr>
          <p:cNvSpPr>
            <a:spLocks noGrp="1"/>
          </p:cNvSpPr>
          <p:nvPr>
            <p:ph type="title"/>
          </p:nvPr>
        </p:nvSpPr>
        <p:spPr>
          <a:xfrm>
            <a:off x="177165" y="426339"/>
            <a:ext cx="10149840" cy="588010"/>
          </a:xfrm>
          <a:noFill/>
        </p:spPr>
        <p:txBody>
          <a:bodyPr>
            <a:noAutofit/>
          </a:bodyPr>
          <a:lstStyle/>
          <a:p>
            <a:r>
              <a:rPr lang="en-US" sz="3200" b="1" i="0" u="none" strike="noStrike" baseline="0" dirty="0">
                <a:solidFill>
                  <a:schemeClr val="accent1">
                    <a:lumMod val="25000"/>
                  </a:schemeClr>
                </a:solidFill>
                <a:latin typeface="+mn-lt"/>
              </a:rPr>
              <a:t>Location Sales Performance</a:t>
            </a:r>
            <a:br>
              <a:rPr lang="en-US" b="0" i="0" u="none" strike="noStrike" baseline="0" dirty="0">
                <a:solidFill>
                  <a:srgbClr val="E36C09"/>
                </a:solidFill>
                <a:latin typeface="+mn-lt"/>
              </a:rPr>
            </a:br>
            <a:endParaRPr lang="en-US" dirty="0">
              <a:latin typeface="+mn-lt"/>
            </a:endParaRPr>
          </a:p>
        </p:txBody>
      </p:sp>
      <p:sp>
        <p:nvSpPr>
          <p:cNvPr id="6" name="Content Placeholder 5">
            <a:extLst>
              <a:ext uri="{FF2B5EF4-FFF2-40B4-BE49-F238E27FC236}">
                <a16:creationId xmlns:a16="http://schemas.microsoft.com/office/drawing/2014/main" id="{3C6CC8E5-7AE6-8398-DD50-E5FE543E3C97}"/>
              </a:ext>
            </a:extLst>
          </p:cNvPr>
          <p:cNvSpPr>
            <a:spLocks noGrp="1"/>
          </p:cNvSpPr>
          <p:nvPr>
            <p:ph idx="13"/>
          </p:nvPr>
        </p:nvSpPr>
        <p:spPr>
          <a:xfrm>
            <a:off x="6641973" y="426339"/>
            <a:ext cx="4370832" cy="2746069"/>
          </a:xfrm>
        </p:spPr>
        <p:txBody>
          <a:bodyPr>
            <a:normAutofit/>
          </a:bodyPr>
          <a:lstStyle/>
          <a:p>
            <a:pPr marL="0" indent="0">
              <a:buNone/>
            </a:pPr>
            <a:r>
              <a:rPr lang="en-US" sz="1800" dirty="0">
                <a:solidFill>
                  <a:schemeClr val="accent1">
                    <a:lumMod val="10000"/>
                  </a:schemeClr>
                </a:solidFill>
                <a:latin typeface="Cambria" panose="02040503050406030204" pitchFamily="18" charset="0"/>
                <a:ea typeface="Cambria" panose="02040503050406030204" pitchFamily="18" charset="0"/>
              </a:rPr>
              <a:t>Analysis</a:t>
            </a:r>
            <a:endParaRPr lang="en-US" dirty="0">
              <a:solidFill>
                <a:schemeClr val="accent1">
                  <a:lumMod val="10000"/>
                </a:schemeClr>
              </a:solidFill>
              <a:latin typeface="Cambria" panose="02040503050406030204" pitchFamily="18" charset="0"/>
              <a:ea typeface="Cambria" panose="02040503050406030204" pitchFamily="18" charset="0"/>
            </a:endParaRPr>
          </a:p>
          <a:p>
            <a:pPr marL="0" marR="0">
              <a:lnSpc>
                <a:spcPct val="115000"/>
              </a:lnSpc>
              <a:spcBef>
                <a:spcPts val="0"/>
              </a:spcBef>
              <a:spcAft>
                <a:spcPts val="800"/>
              </a:spcAft>
            </a:pPr>
            <a:r>
              <a:rPr lang="en-US" sz="1200" kern="100" dirty="0">
                <a:solidFill>
                  <a:schemeClr val="accent1">
                    <a:lumMod val="10000"/>
                  </a:schemeClr>
                </a:solidFill>
                <a:effectLst/>
                <a:latin typeface="Cambria" panose="02040503050406030204" pitchFamily="18" charset="0"/>
                <a:ea typeface="Cambria" panose="02040503050406030204" pitchFamily="18" charset="0"/>
                <a:cs typeface="Times New Roman" panose="02020603050405020304" pitchFamily="18" charset="0"/>
              </a:rPr>
              <a:t>Belgium and Germany are the highest-performing countries, accounting for the bulk of total revenue and order volume.</a:t>
            </a:r>
          </a:p>
          <a:p>
            <a:pPr marL="0" marR="0">
              <a:lnSpc>
                <a:spcPct val="115000"/>
              </a:lnSpc>
              <a:spcBef>
                <a:spcPts val="0"/>
              </a:spcBef>
              <a:spcAft>
                <a:spcPts val="800"/>
              </a:spcAft>
            </a:pPr>
            <a:r>
              <a:rPr lang="en-US" sz="1200" kern="100" dirty="0">
                <a:solidFill>
                  <a:schemeClr val="accent1">
                    <a:lumMod val="10000"/>
                  </a:schemeClr>
                </a:solidFill>
                <a:effectLst/>
                <a:latin typeface="Cambria" panose="02040503050406030204" pitchFamily="18" charset="0"/>
                <a:ea typeface="Cambria" panose="02040503050406030204" pitchFamily="18" charset="0"/>
                <a:cs typeface="Times New Roman" panose="02020603050405020304" pitchFamily="18" charset="0"/>
              </a:rPr>
              <a:t>Countries such as Portugal and Spain report low sales and reduced delivery efficiency.</a:t>
            </a:r>
          </a:p>
          <a:p>
            <a:pPr marL="0" marR="0">
              <a:lnSpc>
                <a:spcPct val="115000"/>
              </a:lnSpc>
              <a:spcBef>
                <a:spcPts val="0"/>
              </a:spcBef>
              <a:spcAft>
                <a:spcPts val="800"/>
              </a:spcAft>
            </a:pPr>
            <a:r>
              <a:rPr lang="en-US" sz="1200" dirty="0">
                <a:solidFill>
                  <a:schemeClr val="accent1">
                    <a:lumMod val="10000"/>
                  </a:schemeClr>
                </a:solidFill>
                <a:latin typeface="Cambria" panose="02040503050406030204" pitchFamily="18" charset="0"/>
                <a:ea typeface="Cambria" panose="02040503050406030204" pitchFamily="18" charset="0"/>
              </a:rPr>
              <a:t>Germany follows closely, demonstrating strong adoption and product penetration, particularly in urban markets.</a:t>
            </a:r>
          </a:p>
          <a:p>
            <a:pPr marL="0" marR="0">
              <a:lnSpc>
                <a:spcPct val="115000"/>
              </a:lnSpc>
              <a:spcBef>
                <a:spcPts val="0"/>
              </a:spcBef>
              <a:spcAft>
                <a:spcPts val="800"/>
              </a:spcAft>
            </a:pPr>
            <a:r>
              <a:rPr lang="en-US" sz="1200" dirty="0">
                <a:solidFill>
                  <a:schemeClr val="accent1">
                    <a:lumMod val="10000"/>
                  </a:schemeClr>
                </a:solidFill>
                <a:latin typeface="Cambria" panose="02040503050406030204" pitchFamily="18" charset="0"/>
                <a:ea typeface="Cambria" panose="02040503050406030204" pitchFamily="18" charset="0"/>
              </a:rPr>
              <a:t>Italy and the Netherlands show moderate performance but untapped potential given their market size.</a:t>
            </a:r>
            <a:r>
              <a:rPr lang="en-US" sz="1200" kern="100" dirty="0">
                <a:solidFill>
                  <a:schemeClr val="accent1">
                    <a:lumMod val="10000"/>
                  </a:schemeClr>
                </a:solidFill>
                <a:effectLst/>
                <a:latin typeface="Cambria" panose="02040503050406030204" pitchFamily="18" charset="0"/>
                <a:ea typeface="Cambria" panose="02040503050406030204" pitchFamily="18" charset="0"/>
                <a:cs typeface="Times New Roman" panose="02020603050405020304" pitchFamily="18" charset="0"/>
              </a:rPr>
              <a:t> </a:t>
            </a:r>
            <a:endParaRPr lang="en-US" dirty="0"/>
          </a:p>
          <a:p>
            <a:endParaRPr lang="en-US" dirty="0"/>
          </a:p>
        </p:txBody>
      </p:sp>
      <p:sp>
        <p:nvSpPr>
          <p:cNvPr id="5" name="Slide Number Placeholder 4">
            <a:extLst>
              <a:ext uri="{FF2B5EF4-FFF2-40B4-BE49-F238E27FC236}">
                <a16:creationId xmlns:a16="http://schemas.microsoft.com/office/drawing/2014/main" id="{8CBF3930-7226-63E0-7754-B4FBBDA56AE5}"/>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3</a:t>
            </a:fld>
            <a:endParaRPr lang="en-US" dirty="0"/>
          </a:p>
        </p:txBody>
      </p:sp>
      <p:pic>
        <p:nvPicPr>
          <p:cNvPr id="9" name="Content Placeholder 8" descr="A map of europe with blue and grey colors&#10;&#10;AI-generated content may be incorrect.">
            <a:extLst>
              <a:ext uri="{FF2B5EF4-FFF2-40B4-BE49-F238E27FC236}">
                <a16:creationId xmlns:a16="http://schemas.microsoft.com/office/drawing/2014/main" id="{EEF2A4C3-1321-F125-A3C7-24FFFB8173C2}"/>
              </a:ext>
            </a:extLst>
          </p:cNvPr>
          <p:cNvPicPr>
            <a:picLocks noGrp="1" noChangeAspect="1"/>
          </p:cNvPicPr>
          <p:nvPr>
            <p:ph idx="1"/>
          </p:nvPr>
        </p:nvPicPr>
        <p:blipFill>
          <a:blip r:embed="rId2"/>
          <a:stretch>
            <a:fillRect/>
          </a:stretch>
        </p:blipFill>
        <p:spPr>
          <a:xfrm>
            <a:off x="177165" y="879031"/>
            <a:ext cx="5915788" cy="5687948"/>
          </a:xfrm>
        </p:spPr>
      </p:pic>
      <p:sp>
        <p:nvSpPr>
          <p:cNvPr id="8" name="Content Placeholder 5">
            <a:extLst>
              <a:ext uri="{FF2B5EF4-FFF2-40B4-BE49-F238E27FC236}">
                <a16:creationId xmlns:a16="http://schemas.microsoft.com/office/drawing/2014/main" id="{5946DBAF-6ABA-D73C-CD9A-4E322A72EE3D}"/>
              </a:ext>
            </a:extLst>
          </p:cNvPr>
          <p:cNvSpPr txBox="1">
            <a:spLocks/>
          </p:cNvSpPr>
          <p:nvPr/>
        </p:nvSpPr>
        <p:spPr>
          <a:xfrm>
            <a:off x="6641973" y="4102914"/>
            <a:ext cx="4370832" cy="2253436"/>
          </a:xfrm>
          <a:prstGeom prst="rect">
            <a:avLst/>
          </a:prstGeom>
          <a:noFill/>
        </p:spPr>
        <p:txBody>
          <a:bodyPr vert="horz" lIns="91440" tIns="45720" rIns="91440" bIns="45720" rtlCol="0" anchor="t" anchorCtr="0">
            <a:normAutofit/>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20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chemeClr val="accent1">
                    <a:lumMod val="10000"/>
                  </a:schemeClr>
                </a:solidFill>
                <a:latin typeface="Cambria" panose="02040503050406030204" pitchFamily="18" charset="0"/>
                <a:ea typeface="Cambria" panose="02040503050406030204" pitchFamily="18" charset="0"/>
              </a:rPr>
              <a:t>Recommendations</a:t>
            </a:r>
            <a:endParaRPr lang="en-US" dirty="0">
              <a:solidFill>
                <a:schemeClr val="accent1">
                  <a:lumMod val="10000"/>
                </a:schemeClr>
              </a:solidFill>
              <a:latin typeface="Cambria" panose="02040503050406030204" pitchFamily="18" charset="0"/>
              <a:ea typeface="Cambria" panose="02040503050406030204" pitchFamily="18" charset="0"/>
            </a:endParaRPr>
          </a:p>
          <a:p>
            <a:pPr marL="0" indent="0">
              <a:lnSpc>
                <a:spcPct val="115000"/>
              </a:lnSpc>
              <a:spcBef>
                <a:spcPts val="0"/>
              </a:spcBef>
              <a:spcAft>
                <a:spcPts val="800"/>
              </a:spcAft>
              <a:buNone/>
            </a:pPr>
            <a:r>
              <a:rPr lang="en-US" sz="1200" kern="100" dirty="0">
                <a:solidFill>
                  <a:schemeClr val="accent1">
                    <a:lumMod val="10000"/>
                  </a:schemeClr>
                </a:solidFill>
                <a:latin typeface="Cambria" panose="02040503050406030204" pitchFamily="18" charset="0"/>
                <a:ea typeface="Cambria" panose="02040503050406030204" pitchFamily="18" charset="0"/>
                <a:cs typeface="Times New Roman" panose="02020603050405020304" pitchFamily="18" charset="0"/>
              </a:rPr>
              <a:t>Reinforce promotional campaigns in Belgium and Germany to maintain dominance and test new products. Conduct market assessments in Spain and Portugal to identify demand barriers, such as cultural preferences or pricing sensitivity. Improve delivery coordination in low-performance countries to reduce failed orders. Use Belgium's operational model as a template for regional expansion.</a:t>
            </a:r>
            <a:endParaRPr lang="en-US" sz="1000" dirty="0">
              <a:solidFill>
                <a:schemeClr val="accent1">
                  <a:lumMod val="10000"/>
                </a:schemeClr>
              </a:solidFill>
            </a:endParaRPr>
          </a:p>
          <a:p>
            <a:endParaRPr lang="en-US" dirty="0"/>
          </a:p>
          <a:p>
            <a:endParaRPr lang="en-US" dirty="0"/>
          </a:p>
        </p:txBody>
      </p:sp>
    </p:spTree>
    <p:extLst>
      <p:ext uri="{BB962C8B-B14F-4D97-AF65-F5344CB8AC3E}">
        <p14:creationId xmlns:p14="http://schemas.microsoft.com/office/powerpoint/2010/main" val="685724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54000">
              <a:schemeClr val="accent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99B05-C604-092A-7393-1520DFBF0872}"/>
              </a:ext>
            </a:extLst>
          </p:cNvPr>
          <p:cNvSpPr>
            <a:spLocks noGrp="1"/>
          </p:cNvSpPr>
          <p:nvPr>
            <p:ph type="title"/>
          </p:nvPr>
        </p:nvSpPr>
        <p:spPr>
          <a:xfrm>
            <a:off x="396240" y="416307"/>
            <a:ext cx="10149840" cy="588010"/>
          </a:xfrm>
          <a:noFill/>
        </p:spPr>
        <p:txBody>
          <a:bodyPr>
            <a:noAutofit/>
          </a:bodyPr>
          <a:lstStyle/>
          <a:p>
            <a:r>
              <a:rPr lang="en-US" sz="3200" b="1" dirty="0">
                <a:solidFill>
                  <a:schemeClr val="accent1">
                    <a:lumMod val="25000"/>
                  </a:schemeClr>
                </a:solidFill>
                <a:latin typeface="+mn-lt"/>
              </a:rPr>
              <a:t>Channel Effectiveness</a:t>
            </a:r>
            <a:br>
              <a:rPr lang="en-US" b="0" i="0" u="none" strike="noStrike" baseline="0" dirty="0">
                <a:solidFill>
                  <a:srgbClr val="E36C09"/>
                </a:solidFill>
                <a:latin typeface="+mn-lt"/>
              </a:rPr>
            </a:br>
            <a:endParaRPr lang="en-US" dirty="0">
              <a:latin typeface="+mn-lt"/>
            </a:endParaRPr>
          </a:p>
        </p:txBody>
      </p:sp>
      <p:sp>
        <p:nvSpPr>
          <p:cNvPr id="5" name="Slide Number Placeholder 4">
            <a:extLst>
              <a:ext uri="{FF2B5EF4-FFF2-40B4-BE49-F238E27FC236}">
                <a16:creationId xmlns:a16="http://schemas.microsoft.com/office/drawing/2014/main" id="{8CBF3930-7226-63E0-7754-B4FBBDA56AE5}"/>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4</a:t>
            </a:fld>
            <a:endParaRPr lang="en-US" dirty="0"/>
          </a:p>
        </p:txBody>
      </p:sp>
      <p:pic>
        <p:nvPicPr>
          <p:cNvPr id="8" name="Content Placeholder 7" descr="A blue rectangle with black text&#10;&#10;AI-generated content may be incorrect.">
            <a:extLst>
              <a:ext uri="{FF2B5EF4-FFF2-40B4-BE49-F238E27FC236}">
                <a16:creationId xmlns:a16="http://schemas.microsoft.com/office/drawing/2014/main" id="{DEFA477E-B1A4-25B9-294F-3899B74990AF}"/>
              </a:ext>
            </a:extLst>
          </p:cNvPr>
          <p:cNvPicPr>
            <a:picLocks noGrp="1" noChangeAspect="1"/>
          </p:cNvPicPr>
          <p:nvPr>
            <p:ph idx="1"/>
          </p:nvPr>
        </p:nvPicPr>
        <p:blipFill>
          <a:blip r:embed="rId2"/>
          <a:stretch>
            <a:fillRect/>
          </a:stretch>
        </p:blipFill>
        <p:spPr>
          <a:xfrm>
            <a:off x="396239" y="742950"/>
            <a:ext cx="6245733" cy="5810757"/>
          </a:xfrm>
        </p:spPr>
      </p:pic>
      <p:sp>
        <p:nvSpPr>
          <p:cNvPr id="3" name="Content Placeholder 5">
            <a:extLst>
              <a:ext uri="{FF2B5EF4-FFF2-40B4-BE49-F238E27FC236}">
                <a16:creationId xmlns:a16="http://schemas.microsoft.com/office/drawing/2014/main" id="{EFBF9D58-30C5-586D-2B7D-826BFFD68F59}"/>
              </a:ext>
            </a:extLst>
          </p:cNvPr>
          <p:cNvSpPr txBox="1">
            <a:spLocks/>
          </p:cNvSpPr>
          <p:nvPr/>
        </p:nvSpPr>
        <p:spPr>
          <a:xfrm>
            <a:off x="6982968" y="292525"/>
            <a:ext cx="4370832" cy="3170298"/>
          </a:xfrm>
          <a:prstGeom prst="rect">
            <a:avLst/>
          </a:prstGeom>
          <a:noFill/>
        </p:spPr>
        <p:txBody>
          <a:bodyPr vert="horz" lIns="91440" tIns="45720" rIns="91440" bIns="45720" rtlCol="0" anchor="t" anchorCtr="0">
            <a:normAutofit fontScale="25000" lnSpcReduction="20000"/>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20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7200" dirty="0">
                <a:solidFill>
                  <a:schemeClr val="accent1">
                    <a:lumMod val="10000"/>
                  </a:schemeClr>
                </a:solidFill>
                <a:latin typeface="Cambria" panose="02040503050406030204" pitchFamily="18" charset="0"/>
                <a:ea typeface="Cambria" panose="02040503050406030204" pitchFamily="18" charset="0"/>
              </a:rPr>
              <a:t>Analysis</a:t>
            </a:r>
            <a:endParaRPr lang="en-US" dirty="0">
              <a:solidFill>
                <a:schemeClr val="accent1">
                  <a:lumMod val="10000"/>
                </a:schemeClr>
              </a:solidFill>
              <a:latin typeface="Cambria" panose="02040503050406030204" pitchFamily="18" charset="0"/>
              <a:ea typeface="Cambria" panose="02040503050406030204" pitchFamily="18" charset="0"/>
            </a:endParaRPr>
          </a:p>
          <a:p>
            <a:pPr marL="0" marR="0">
              <a:lnSpc>
                <a:spcPct val="115000"/>
              </a:lnSpc>
              <a:spcBef>
                <a:spcPts val="0"/>
              </a:spcBef>
              <a:spcAft>
                <a:spcPts val="800"/>
              </a:spcAft>
            </a:pPr>
            <a:r>
              <a:rPr lang="en-US" sz="4800" kern="100" dirty="0">
                <a:solidFill>
                  <a:schemeClr val="accent1">
                    <a:lumMod val="10000"/>
                  </a:schemeClr>
                </a:solidFill>
                <a:effectLst/>
                <a:latin typeface="Cambria" panose="02040503050406030204" pitchFamily="18" charset="0"/>
                <a:ea typeface="Cambria" panose="02040503050406030204" pitchFamily="18" charset="0"/>
                <a:cs typeface="Times New Roman" panose="02020603050405020304" pitchFamily="18" charset="0"/>
              </a:rPr>
              <a:t>The Warehouse channel shows the highest volume of boxes shipped but delivers relatively lower profit margins. This suggests a model optimized for bulk distribution but potentially affected by storage, handling, or fulfillment costs.</a:t>
            </a:r>
          </a:p>
          <a:p>
            <a:pPr marL="0" marR="0">
              <a:lnSpc>
                <a:spcPct val="115000"/>
              </a:lnSpc>
              <a:spcBef>
                <a:spcPts val="0"/>
              </a:spcBef>
              <a:spcAft>
                <a:spcPts val="800"/>
              </a:spcAft>
            </a:pPr>
            <a:r>
              <a:rPr lang="en-US" sz="4800" kern="100" dirty="0">
                <a:solidFill>
                  <a:schemeClr val="accent1">
                    <a:lumMod val="10000"/>
                  </a:schemeClr>
                </a:solidFill>
                <a:effectLst/>
                <a:latin typeface="Cambria" panose="02040503050406030204" pitchFamily="18" charset="0"/>
                <a:ea typeface="Cambria" panose="02040503050406030204" pitchFamily="18" charset="0"/>
                <a:cs typeface="Times New Roman" panose="02020603050405020304" pitchFamily="18" charset="0"/>
              </a:rPr>
              <a:t>The Website (Online channel), although responsible for fewer shipments, generates the highest profit per box. This is likely due to premium pricing, direct-to-consumer efficiency, and fewer intermediaries.</a:t>
            </a:r>
          </a:p>
          <a:p>
            <a:pPr marL="0" marR="0">
              <a:lnSpc>
                <a:spcPct val="115000"/>
              </a:lnSpc>
              <a:spcBef>
                <a:spcPts val="0"/>
              </a:spcBef>
              <a:spcAft>
                <a:spcPts val="800"/>
              </a:spcAft>
            </a:pPr>
            <a:r>
              <a:rPr lang="en-US" sz="4800" kern="100" dirty="0">
                <a:solidFill>
                  <a:schemeClr val="accent1">
                    <a:lumMod val="10000"/>
                  </a:schemeClr>
                </a:solidFill>
                <a:effectLst/>
                <a:latin typeface="Cambria" panose="02040503050406030204" pitchFamily="18" charset="0"/>
                <a:ea typeface="Cambria" panose="02040503050406030204" pitchFamily="18" charset="0"/>
                <a:cs typeface="Times New Roman" panose="02020603050405020304" pitchFamily="18" charset="0"/>
              </a:rPr>
              <a:t>Social Media sales, while still emerging in volume, show promising margins and growth potential — particularly for younger demographics or during promotions and product launches. However, its current impact is limited in total sales.</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0" indent="0">
              <a:buFont typeface="Arial" panose="020B0604020202020204" pitchFamily="34" charset="0"/>
              <a:buNone/>
            </a:pPr>
            <a:endParaRPr lang="en-US" sz="1000" dirty="0">
              <a:solidFill>
                <a:srgbClr val="FF0000"/>
              </a:solidFill>
            </a:endParaRPr>
          </a:p>
          <a:p>
            <a:endParaRPr lang="en-US" dirty="0"/>
          </a:p>
          <a:p>
            <a:endParaRPr lang="en-US" dirty="0"/>
          </a:p>
        </p:txBody>
      </p:sp>
      <p:sp>
        <p:nvSpPr>
          <p:cNvPr id="10" name="Content Placeholder 5">
            <a:extLst>
              <a:ext uri="{FF2B5EF4-FFF2-40B4-BE49-F238E27FC236}">
                <a16:creationId xmlns:a16="http://schemas.microsoft.com/office/drawing/2014/main" id="{90DD2BB6-0755-4B64-E748-123D3F87A10F}"/>
              </a:ext>
            </a:extLst>
          </p:cNvPr>
          <p:cNvSpPr txBox="1">
            <a:spLocks/>
          </p:cNvSpPr>
          <p:nvPr/>
        </p:nvSpPr>
        <p:spPr>
          <a:xfrm>
            <a:off x="6982968" y="3433313"/>
            <a:ext cx="4370832" cy="3170298"/>
          </a:xfrm>
          <a:prstGeom prst="rect">
            <a:avLst/>
          </a:prstGeom>
          <a:noFill/>
        </p:spPr>
        <p:txBody>
          <a:bodyPr vert="horz" lIns="91440" tIns="45720" rIns="91440" bIns="45720" rtlCol="0" anchor="t" anchorCtr="0">
            <a:normAutofit fontScale="47500" lnSpcReduction="20000"/>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20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500" dirty="0">
                <a:solidFill>
                  <a:schemeClr val="accent1">
                    <a:lumMod val="10000"/>
                  </a:schemeClr>
                </a:solidFill>
                <a:latin typeface="Cambria" panose="02040503050406030204" pitchFamily="18" charset="0"/>
                <a:ea typeface="Cambria" panose="02040503050406030204" pitchFamily="18" charset="0"/>
              </a:rPr>
              <a:t>Recommendations</a:t>
            </a:r>
            <a:endParaRPr lang="en-US" dirty="0">
              <a:solidFill>
                <a:schemeClr val="accent1">
                  <a:lumMod val="10000"/>
                </a:schemeClr>
              </a:solidFill>
              <a:latin typeface="Cambria" panose="02040503050406030204" pitchFamily="18" charset="0"/>
              <a:ea typeface="Cambria" panose="02040503050406030204" pitchFamily="18" charset="0"/>
            </a:endParaRPr>
          </a:p>
          <a:p>
            <a:pPr marL="0" marR="0">
              <a:lnSpc>
                <a:spcPct val="115000"/>
              </a:lnSpc>
              <a:spcBef>
                <a:spcPts val="0"/>
              </a:spcBef>
              <a:spcAft>
                <a:spcPts val="800"/>
              </a:spcAft>
            </a:pPr>
            <a:r>
              <a:rPr lang="en-US" sz="2500" kern="100" dirty="0">
                <a:solidFill>
                  <a:schemeClr val="accent1">
                    <a:lumMod val="10000"/>
                  </a:schemeClr>
                </a:solidFill>
                <a:effectLst/>
                <a:latin typeface="Cambria" panose="02040503050406030204" pitchFamily="18" charset="0"/>
                <a:ea typeface="Cambria" panose="02040503050406030204" pitchFamily="18" charset="0"/>
                <a:cs typeface="Times New Roman" panose="02020603050405020304" pitchFamily="18" charset="0"/>
              </a:rPr>
              <a:t>Optimize warehouse operations by renegotiating supplier rates, cutting fulfillment costs, and offering bulk discounts to improve profitability.</a:t>
            </a:r>
          </a:p>
          <a:p>
            <a:pPr marL="0" marR="0">
              <a:lnSpc>
                <a:spcPct val="115000"/>
              </a:lnSpc>
              <a:spcBef>
                <a:spcPts val="0"/>
              </a:spcBef>
              <a:spcAft>
                <a:spcPts val="800"/>
              </a:spcAft>
            </a:pPr>
            <a:r>
              <a:rPr lang="en-US" sz="2500" kern="100" dirty="0">
                <a:solidFill>
                  <a:schemeClr val="accent1">
                    <a:lumMod val="10000"/>
                  </a:schemeClr>
                </a:solidFill>
                <a:effectLst/>
                <a:latin typeface="Cambria" panose="02040503050406030204" pitchFamily="18" charset="0"/>
                <a:ea typeface="Cambria" panose="02040503050406030204" pitchFamily="18" charset="0"/>
                <a:cs typeface="Times New Roman" panose="02020603050405020304" pitchFamily="18" charset="0"/>
              </a:rPr>
              <a:t>Enhance website performance through SEO, personalized email campaigns, and conversion-focused landing pages, promoting premium and organic products.</a:t>
            </a:r>
          </a:p>
          <a:p>
            <a:pPr marL="0" marR="0">
              <a:lnSpc>
                <a:spcPct val="115000"/>
              </a:lnSpc>
              <a:spcBef>
                <a:spcPts val="0"/>
              </a:spcBef>
              <a:spcAft>
                <a:spcPts val="800"/>
              </a:spcAft>
            </a:pPr>
            <a:r>
              <a:rPr lang="en-US" sz="2500" kern="100" dirty="0">
                <a:solidFill>
                  <a:schemeClr val="accent1">
                    <a:lumMod val="10000"/>
                  </a:schemeClr>
                </a:solidFill>
                <a:effectLst/>
                <a:latin typeface="Cambria" panose="02040503050406030204" pitchFamily="18" charset="0"/>
                <a:ea typeface="Cambria" panose="02040503050406030204" pitchFamily="18" charset="0"/>
                <a:cs typeface="Times New Roman" panose="02020603050405020304" pitchFamily="18" charset="0"/>
              </a:rPr>
              <a:t>Utilize social media for growth with influencer campaigns, flash sales, and exclusive online launches; analyze ROI to refine strategies.</a:t>
            </a:r>
          </a:p>
          <a:p>
            <a:pPr marL="0" marR="0">
              <a:lnSpc>
                <a:spcPct val="115000"/>
              </a:lnSpc>
              <a:spcBef>
                <a:spcPts val="0"/>
              </a:spcBef>
              <a:spcAft>
                <a:spcPts val="800"/>
              </a:spcAft>
            </a:pPr>
            <a:r>
              <a:rPr lang="en-US" sz="2500" kern="100" dirty="0">
                <a:solidFill>
                  <a:schemeClr val="accent1">
                    <a:lumMod val="10000"/>
                  </a:schemeClr>
                </a:solidFill>
                <a:effectLst/>
                <a:latin typeface="Cambria" panose="02040503050406030204" pitchFamily="18" charset="0"/>
                <a:ea typeface="Cambria" panose="02040503050406030204" pitchFamily="18" charset="0"/>
                <a:cs typeface="Times New Roman" panose="02020603050405020304" pitchFamily="18" charset="0"/>
              </a:rPr>
              <a:t>Monitor profit-per-box and return rates across channels to adjust pricing, delivery, and promotions effectively.</a:t>
            </a:r>
            <a:endParaRPr lang="en-US" sz="2500" dirty="0">
              <a:solidFill>
                <a:schemeClr val="accent1">
                  <a:lumMod val="10000"/>
                </a:schemeClr>
              </a:solidFill>
              <a:latin typeface="Cambria" panose="02040503050406030204" pitchFamily="18" charset="0"/>
              <a:ea typeface="Cambria" panose="02040503050406030204" pitchFamily="18" charset="0"/>
            </a:endParaRPr>
          </a:p>
          <a:p>
            <a:endParaRPr lang="en-US" dirty="0"/>
          </a:p>
        </p:txBody>
      </p:sp>
    </p:spTree>
    <p:extLst>
      <p:ext uri="{BB962C8B-B14F-4D97-AF65-F5344CB8AC3E}">
        <p14:creationId xmlns:p14="http://schemas.microsoft.com/office/powerpoint/2010/main" val="3480985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54000">
              <a:schemeClr val="accent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99B05-C604-092A-7393-1520DFBF0872}"/>
              </a:ext>
            </a:extLst>
          </p:cNvPr>
          <p:cNvSpPr>
            <a:spLocks noGrp="1"/>
          </p:cNvSpPr>
          <p:nvPr>
            <p:ph type="title"/>
          </p:nvPr>
        </p:nvSpPr>
        <p:spPr>
          <a:xfrm>
            <a:off x="396240" y="416307"/>
            <a:ext cx="10149840" cy="588010"/>
          </a:xfrm>
          <a:noFill/>
        </p:spPr>
        <p:txBody>
          <a:bodyPr>
            <a:noAutofit/>
          </a:bodyPr>
          <a:lstStyle/>
          <a:p>
            <a:r>
              <a:rPr lang="en-US" sz="3200" b="1" i="0" u="none" strike="noStrike" baseline="0" dirty="0">
                <a:solidFill>
                  <a:schemeClr val="accent1">
                    <a:lumMod val="25000"/>
                  </a:schemeClr>
                </a:solidFill>
                <a:latin typeface="+mn-lt"/>
              </a:rPr>
              <a:t>Salesperson Productivity</a:t>
            </a:r>
            <a:br>
              <a:rPr lang="en-US" b="0" i="0" u="none" strike="noStrike" baseline="0" dirty="0">
                <a:solidFill>
                  <a:srgbClr val="E36C09"/>
                </a:solidFill>
                <a:latin typeface="+mn-lt"/>
              </a:rPr>
            </a:br>
            <a:endParaRPr lang="en-US" dirty="0">
              <a:latin typeface="+mn-lt"/>
            </a:endParaRPr>
          </a:p>
        </p:txBody>
      </p:sp>
      <p:sp>
        <p:nvSpPr>
          <p:cNvPr id="5" name="Slide Number Placeholder 4">
            <a:extLst>
              <a:ext uri="{FF2B5EF4-FFF2-40B4-BE49-F238E27FC236}">
                <a16:creationId xmlns:a16="http://schemas.microsoft.com/office/drawing/2014/main" id="{8CBF3930-7226-63E0-7754-B4FBBDA56AE5}"/>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5</a:t>
            </a:fld>
            <a:endParaRPr lang="en-US" dirty="0"/>
          </a:p>
        </p:txBody>
      </p:sp>
      <p:pic>
        <p:nvPicPr>
          <p:cNvPr id="13" name="Content Placeholder 12" descr="A blue and white striped background&#10;&#10;AI-generated content may be incorrect.">
            <a:extLst>
              <a:ext uri="{FF2B5EF4-FFF2-40B4-BE49-F238E27FC236}">
                <a16:creationId xmlns:a16="http://schemas.microsoft.com/office/drawing/2014/main" id="{32F40537-2E89-34CB-0925-08C0DFB6DEC9}"/>
              </a:ext>
            </a:extLst>
          </p:cNvPr>
          <p:cNvPicPr>
            <a:picLocks noGrp="1" noChangeAspect="1"/>
          </p:cNvPicPr>
          <p:nvPr>
            <p:ph idx="1"/>
          </p:nvPr>
        </p:nvPicPr>
        <p:blipFill>
          <a:blip r:embed="rId2"/>
          <a:stretch>
            <a:fillRect/>
          </a:stretch>
        </p:blipFill>
        <p:spPr>
          <a:xfrm>
            <a:off x="396240" y="1075014"/>
            <a:ext cx="6090285" cy="3053333"/>
          </a:xfrm>
        </p:spPr>
      </p:pic>
      <p:sp>
        <p:nvSpPr>
          <p:cNvPr id="9" name="TextBox 8">
            <a:extLst>
              <a:ext uri="{FF2B5EF4-FFF2-40B4-BE49-F238E27FC236}">
                <a16:creationId xmlns:a16="http://schemas.microsoft.com/office/drawing/2014/main" id="{99F0BF3A-0BB2-0417-3B21-4ED66B83812C}"/>
              </a:ext>
            </a:extLst>
          </p:cNvPr>
          <p:cNvSpPr txBox="1"/>
          <p:nvPr/>
        </p:nvSpPr>
        <p:spPr>
          <a:xfrm>
            <a:off x="7025951" y="422248"/>
            <a:ext cx="4769809" cy="3351174"/>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Analysis</a:t>
            </a:r>
          </a:p>
          <a:p>
            <a:endParaRPr lang="en-US" dirty="0">
              <a:latin typeface="Cambria" panose="02040503050406030204" pitchFamily="18" charset="0"/>
              <a:ea typeface="Cambria" panose="02040503050406030204" pitchFamily="18" charset="0"/>
            </a:endParaRPr>
          </a:p>
          <a:p>
            <a:pPr marL="285750" marR="0" indent="-285750">
              <a:lnSpc>
                <a:spcPct val="115000"/>
              </a:lnSpc>
              <a:spcBef>
                <a:spcPts val="0"/>
              </a:spcBef>
              <a:spcAft>
                <a:spcPts val="800"/>
              </a:spcAft>
              <a:buFont typeface="Arial" panose="020B0604020202020204" pitchFamily="34" charset="0"/>
              <a:buChar char="•"/>
            </a:pPr>
            <a:r>
              <a:rPr lang="en-US" sz="1200" kern="100" dirty="0">
                <a:effectLst/>
                <a:latin typeface="Cambria" panose="02040503050406030204" pitchFamily="18" charset="0"/>
                <a:ea typeface="Cambria" panose="02040503050406030204" pitchFamily="18" charset="0"/>
                <a:cs typeface="Times New Roman" panose="02020603050405020304" pitchFamily="18" charset="0"/>
              </a:rPr>
              <a:t>Only a limited number of salespeople surpass the €100,000 profit threshold, indicating performance concentration within the team.</a:t>
            </a:r>
          </a:p>
          <a:p>
            <a:pPr marL="285750" marR="0" indent="-285750">
              <a:lnSpc>
                <a:spcPct val="115000"/>
              </a:lnSpc>
              <a:spcBef>
                <a:spcPts val="0"/>
              </a:spcBef>
              <a:spcAft>
                <a:spcPts val="800"/>
              </a:spcAft>
              <a:buFont typeface="Arial" panose="020B0604020202020204" pitchFamily="34" charset="0"/>
              <a:buChar char="•"/>
            </a:pPr>
            <a:r>
              <a:rPr lang="en-US" sz="1200" kern="100" dirty="0">
                <a:effectLst/>
                <a:latin typeface="Cambria" panose="02040503050406030204" pitchFamily="18" charset="0"/>
                <a:ea typeface="Cambria" panose="02040503050406030204" pitchFamily="18" charset="0"/>
                <a:cs typeface="Times New Roman" panose="02020603050405020304" pitchFamily="18" charset="0"/>
              </a:rPr>
              <a:t>These top performers tend to operate in high-demand regions and favor high-margin product lines, such as organic dark chocolate and limited editions.</a:t>
            </a:r>
          </a:p>
          <a:p>
            <a:pPr marL="285750" marR="0" indent="-285750">
              <a:lnSpc>
                <a:spcPct val="115000"/>
              </a:lnSpc>
              <a:spcBef>
                <a:spcPts val="0"/>
              </a:spcBef>
              <a:spcAft>
                <a:spcPts val="800"/>
              </a:spcAft>
              <a:buFont typeface="Arial" panose="020B0604020202020204" pitchFamily="34" charset="0"/>
              <a:buChar char="•"/>
            </a:pPr>
            <a:r>
              <a:rPr lang="en-US" sz="1200" kern="100" dirty="0">
                <a:effectLst/>
                <a:latin typeface="Cambria" panose="02040503050406030204" pitchFamily="18" charset="0"/>
                <a:ea typeface="Cambria" panose="02040503050406030204" pitchFamily="18" charset="0"/>
                <a:cs typeface="Times New Roman" panose="02020603050405020304" pitchFamily="18" charset="0"/>
              </a:rPr>
              <a:t>Several salespeople fall far below the target, and in some cases, sales volume is adequate, but profit remains low, implying issues with discounting or customer targeting.</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285750" indent="-285750">
              <a:buFont typeface="Arial" panose="020B0604020202020204" pitchFamily="34" charset="0"/>
              <a:buChar char="•"/>
            </a:pPr>
            <a:endParaRPr lang="en-US" dirty="0"/>
          </a:p>
        </p:txBody>
      </p:sp>
      <p:sp>
        <p:nvSpPr>
          <p:cNvPr id="10" name="TextBox 9">
            <a:extLst>
              <a:ext uri="{FF2B5EF4-FFF2-40B4-BE49-F238E27FC236}">
                <a16:creationId xmlns:a16="http://schemas.microsoft.com/office/drawing/2014/main" id="{660D85D8-5F9C-3949-0EC5-5687CA1B29EE}"/>
              </a:ext>
            </a:extLst>
          </p:cNvPr>
          <p:cNvSpPr txBox="1"/>
          <p:nvPr/>
        </p:nvSpPr>
        <p:spPr>
          <a:xfrm>
            <a:off x="7025951" y="3985788"/>
            <a:ext cx="4769809" cy="193899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Recommendations</a:t>
            </a:r>
          </a:p>
          <a:p>
            <a:endParaRPr lang="en-US" dirty="0">
              <a:latin typeface="Cambria" panose="02040503050406030204" pitchFamily="18" charset="0"/>
              <a:ea typeface="Cambria" panose="02040503050406030204" pitchFamily="18" charset="0"/>
            </a:endParaRPr>
          </a:p>
          <a:p>
            <a:pPr marL="171450" indent="-171450">
              <a:buFont typeface="Arial" panose="020B0604020202020204" pitchFamily="34" charset="0"/>
              <a:buChar char="•"/>
            </a:pPr>
            <a:r>
              <a:rPr lang="en-US" sz="1200" dirty="0">
                <a:latin typeface="Cambria" panose="02040503050406030204" pitchFamily="18" charset="0"/>
                <a:ea typeface="Cambria" panose="02040503050406030204" pitchFamily="18" charset="0"/>
              </a:rPr>
              <a:t>Recognize top performers with commissions and recognition programs. </a:t>
            </a:r>
          </a:p>
          <a:p>
            <a:pPr marL="171450" indent="-171450">
              <a:buFont typeface="Arial" panose="020B0604020202020204" pitchFamily="34" charset="0"/>
              <a:buChar char="•"/>
            </a:pPr>
            <a:r>
              <a:rPr lang="en-US" sz="1200" dirty="0">
                <a:latin typeface="Cambria" panose="02040503050406030204" pitchFamily="18" charset="0"/>
                <a:ea typeface="Cambria" panose="02040503050406030204" pitchFamily="18" charset="0"/>
              </a:rPr>
              <a:t>Analyze their behaviors to replicate success across the team. </a:t>
            </a:r>
          </a:p>
          <a:p>
            <a:pPr marL="171450" indent="-171450">
              <a:buFont typeface="Arial" panose="020B0604020202020204" pitchFamily="34" charset="0"/>
              <a:buChar char="•"/>
            </a:pPr>
            <a:r>
              <a:rPr lang="en-US" sz="1200" dirty="0">
                <a:latin typeface="Cambria" panose="02040503050406030204" pitchFamily="18" charset="0"/>
                <a:ea typeface="Cambria" panose="02040503050406030204" pitchFamily="18" charset="0"/>
              </a:rPr>
              <a:t>Develop coaching for mid- and low-performers, and realign sales territories for equitable profit potential. </a:t>
            </a:r>
          </a:p>
          <a:p>
            <a:pPr marL="171450" indent="-171450">
              <a:buFont typeface="Arial" panose="020B0604020202020204" pitchFamily="34" charset="0"/>
              <a:buChar char="•"/>
            </a:pPr>
            <a:r>
              <a:rPr lang="en-US" sz="1200" dirty="0">
                <a:latin typeface="Cambria" panose="02040503050406030204" pitchFamily="18" charset="0"/>
                <a:ea typeface="Cambria" panose="02040503050406030204" pitchFamily="18" charset="0"/>
              </a:rPr>
              <a:t>Set dynamic goals based on the opportunity index, including channel strength and territory size.</a:t>
            </a:r>
          </a:p>
        </p:txBody>
      </p:sp>
    </p:spTree>
    <p:extLst>
      <p:ext uri="{BB962C8B-B14F-4D97-AF65-F5344CB8AC3E}">
        <p14:creationId xmlns:p14="http://schemas.microsoft.com/office/powerpoint/2010/main" val="3767021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54000">
              <a:schemeClr val="accent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99B05-C604-092A-7393-1520DFBF0872}"/>
              </a:ext>
            </a:extLst>
          </p:cNvPr>
          <p:cNvSpPr>
            <a:spLocks noGrp="1"/>
          </p:cNvSpPr>
          <p:nvPr>
            <p:ph type="title"/>
          </p:nvPr>
        </p:nvSpPr>
        <p:spPr>
          <a:xfrm>
            <a:off x="396240" y="416307"/>
            <a:ext cx="10149840" cy="588010"/>
          </a:xfrm>
          <a:noFill/>
        </p:spPr>
        <p:txBody>
          <a:bodyPr>
            <a:noAutofit/>
          </a:bodyPr>
          <a:lstStyle/>
          <a:p>
            <a:r>
              <a:rPr lang="en-US" sz="3200" b="1" i="0" u="none" strike="noStrike" baseline="0" dirty="0">
                <a:solidFill>
                  <a:schemeClr val="accent1">
                    <a:lumMod val="25000"/>
                  </a:schemeClr>
                </a:solidFill>
                <a:latin typeface="+mn-lt"/>
              </a:rPr>
              <a:t>Product-Level Productivity</a:t>
            </a:r>
            <a:br>
              <a:rPr lang="en-US" b="0" i="0" u="none" strike="noStrike" baseline="0" dirty="0">
                <a:solidFill>
                  <a:srgbClr val="E36C09"/>
                </a:solidFill>
                <a:latin typeface="+mn-lt"/>
              </a:rPr>
            </a:br>
            <a:endParaRPr lang="en-US" dirty="0">
              <a:latin typeface="+mn-lt"/>
            </a:endParaRPr>
          </a:p>
        </p:txBody>
      </p:sp>
      <p:sp>
        <p:nvSpPr>
          <p:cNvPr id="6" name="Content Placeholder 5">
            <a:extLst>
              <a:ext uri="{FF2B5EF4-FFF2-40B4-BE49-F238E27FC236}">
                <a16:creationId xmlns:a16="http://schemas.microsoft.com/office/drawing/2014/main" id="{3C6CC8E5-7AE6-8398-DD50-E5FE543E3C97}"/>
              </a:ext>
            </a:extLst>
          </p:cNvPr>
          <p:cNvSpPr>
            <a:spLocks noGrp="1"/>
          </p:cNvSpPr>
          <p:nvPr>
            <p:ph idx="13"/>
          </p:nvPr>
        </p:nvSpPr>
        <p:spPr>
          <a:xfrm>
            <a:off x="6641972" y="426340"/>
            <a:ext cx="4711827" cy="3436534"/>
          </a:xfrm>
        </p:spPr>
        <p:txBody>
          <a:bodyPr>
            <a:normAutofit/>
          </a:bodyPr>
          <a:lstStyle/>
          <a:p>
            <a:pPr marL="0" indent="0">
              <a:buNone/>
            </a:pPr>
            <a:r>
              <a:rPr lang="en-US" sz="1800" dirty="0">
                <a:solidFill>
                  <a:schemeClr val="accent1">
                    <a:lumMod val="10000"/>
                  </a:schemeClr>
                </a:solidFill>
                <a:latin typeface="Cambria" panose="02040503050406030204" pitchFamily="18" charset="0"/>
                <a:ea typeface="Cambria" panose="02040503050406030204" pitchFamily="18" charset="0"/>
              </a:rPr>
              <a:t>Analysis </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200" kern="100" dirty="0">
                <a:solidFill>
                  <a:schemeClr val="accent1">
                    <a:lumMod val="10000"/>
                  </a:schemeClr>
                </a:solidFill>
                <a:effectLst/>
                <a:latin typeface="Cambria" panose="02040503050406030204" pitchFamily="18" charset="0"/>
                <a:ea typeface="Cambria" panose="02040503050406030204" pitchFamily="18" charset="0"/>
                <a:cs typeface="Times New Roman" panose="02020603050405020304" pitchFamily="18" charset="0"/>
              </a:rPr>
              <a:t>Dark Chocolate dominates in terms of profit contribution, benefiting from high pricing and consistent demand across regions.</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200" kern="100" dirty="0">
                <a:solidFill>
                  <a:schemeClr val="accent1">
                    <a:lumMod val="10000"/>
                  </a:schemeClr>
                </a:solidFill>
                <a:effectLst/>
                <a:latin typeface="Cambria" panose="02040503050406030204" pitchFamily="18" charset="0"/>
                <a:ea typeface="Cambria" panose="02040503050406030204" pitchFamily="18" charset="0"/>
                <a:cs typeface="Times New Roman" panose="02020603050405020304" pitchFamily="18" charset="0"/>
              </a:rPr>
              <a:t>Caramel Stuffed Bars also perform well, indicating that indulgent product lines resonate with the customer base.</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200" kern="100" dirty="0">
                <a:solidFill>
                  <a:schemeClr val="accent1">
                    <a:lumMod val="10000"/>
                  </a:schemeClr>
                </a:solidFill>
                <a:effectLst/>
                <a:latin typeface="Cambria" panose="02040503050406030204" pitchFamily="18" charset="0"/>
                <a:ea typeface="Cambria" panose="02040503050406030204" pitchFamily="18" charset="0"/>
                <a:cs typeface="Times New Roman" panose="02020603050405020304" pitchFamily="18" charset="0"/>
              </a:rPr>
              <a:t>Milk Chocolate and flavored variants like mint or chili-based SKUs sell in volume but show lower margins, possibly due to discount dependency or higher production costs.</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200" kern="100" dirty="0">
                <a:solidFill>
                  <a:schemeClr val="accent1">
                    <a:lumMod val="10000"/>
                  </a:schemeClr>
                </a:solidFill>
                <a:effectLst/>
                <a:latin typeface="Cambria" panose="02040503050406030204" pitchFamily="18" charset="0"/>
                <a:ea typeface="Cambria" panose="02040503050406030204" pitchFamily="18" charset="0"/>
                <a:cs typeface="Times New Roman" panose="02020603050405020304" pitchFamily="18" charset="0"/>
              </a:rPr>
              <a:t>The profit distribution suggests that while product variety exists, only a few core categories drive profitability</a:t>
            </a:r>
            <a:r>
              <a:rPr lang="en-US" sz="1200" kern="100" dirty="0">
                <a:solidFill>
                  <a:schemeClr val="accent2">
                    <a:lumMod val="50000"/>
                  </a:schemeClr>
                </a:solidFill>
                <a:effectLst/>
                <a:latin typeface="Cambria" panose="02040503050406030204" pitchFamily="18" charset="0"/>
                <a:ea typeface="Cambria" panose="02040503050406030204" pitchFamily="18" charset="0"/>
                <a:cs typeface="Times New Roman" panose="02020603050405020304" pitchFamily="18" charset="0"/>
              </a:rPr>
              <a:t>.</a:t>
            </a:r>
          </a:p>
          <a:p>
            <a:pPr marL="0" indent="0">
              <a:buNone/>
            </a:pPr>
            <a:endParaRPr lang="en-US" sz="1200" dirty="0">
              <a:latin typeface="Cambria" panose="02040503050406030204" pitchFamily="18" charset="0"/>
              <a:ea typeface="Cambria" panose="02040503050406030204" pitchFamily="18" charset="0"/>
            </a:endParaRPr>
          </a:p>
        </p:txBody>
      </p:sp>
      <p:sp>
        <p:nvSpPr>
          <p:cNvPr id="5" name="Slide Number Placeholder 4">
            <a:extLst>
              <a:ext uri="{FF2B5EF4-FFF2-40B4-BE49-F238E27FC236}">
                <a16:creationId xmlns:a16="http://schemas.microsoft.com/office/drawing/2014/main" id="{8CBF3930-7226-63E0-7754-B4FBBDA56AE5}"/>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6</a:t>
            </a:fld>
            <a:endParaRPr lang="en-US" dirty="0"/>
          </a:p>
        </p:txBody>
      </p:sp>
      <p:pic>
        <p:nvPicPr>
          <p:cNvPr id="10" name="Content Placeholder 9" descr="A blue and black bar chart&#10;&#10;AI-generated content may be incorrect.">
            <a:extLst>
              <a:ext uri="{FF2B5EF4-FFF2-40B4-BE49-F238E27FC236}">
                <a16:creationId xmlns:a16="http://schemas.microsoft.com/office/drawing/2014/main" id="{205E7D26-2E5C-9ED6-4533-C6B4337D34BE}"/>
              </a:ext>
            </a:extLst>
          </p:cNvPr>
          <p:cNvPicPr>
            <a:picLocks noGrp="1" noChangeAspect="1"/>
          </p:cNvPicPr>
          <p:nvPr>
            <p:ph idx="1"/>
          </p:nvPr>
        </p:nvPicPr>
        <p:blipFill>
          <a:blip r:embed="rId2"/>
          <a:stretch>
            <a:fillRect/>
          </a:stretch>
        </p:blipFill>
        <p:spPr>
          <a:xfrm>
            <a:off x="396239" y="1327073"/>
            <a:ext cx="5785485" cy="3776472"/>
          </a:xfrm>
        </p:spPr>
      </p:pic>
      <p:sp>
        <p:nvSpPr>
          <p:cNvPr id="3" name="TextBox 2">
            <a:extLst>
              <a:ext uri="{FF2B5EF4-FFF2-40B4-BE49-F238E27FC236}">
                <a16:creationId xmlns:a16="http://schemas.microsoft.com/office/drawing/2014/main" id="{7C96B521-7FE6-3286-8F89-C601062194B7}"/>
              </a:ext>
            </a:extLst>
          </p:cNvPr>
          <p:cNvSpPr txBox="1"/>
          <p:nvPr/>
        </p:nvSpPr>
        <p:spPr>
          <a:xfrm>
            <a:off x="6820678" y="3797559"/>
            <a:ext cx="4533121" cy="2123658"/>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Recommendations</a:t>
            </a:r>
          </a:p>
          <a:p>
            <a:endParaRPr lang="en-US"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sz="1200" dirty="0">
                <a:latin typeface="Cambria" panose="02040503050406030204" pitchFamily="18" charset="0"/>
                <a:ea typeface="Cambria" panose="02040503050406030204" pitchFamily="18" charset="0"/>
              </a:rPr>
              <a:t>Focus on premium lines (e.g., Dark Chocolate and Caramel bars) as profit drivers. </a:t>
            </a:r>
          </a:p>
          <a:p>
            <a:pPr marL="285750" indent="-285750">
              <a:buFont typeface="Arial" panose="020B0604020202020204" pitchFamily="34" charset="0"/>
              <a:buChar char="•"/>
            </a:pPr>
            <a:r>
              <a:rPr lang="en-US" sz="1200" dirty="0">
                <a:latin typeface="Cambria" panose="02040503050406030204" pitchFamily="18" charset="0"/>
                <a:ea typeface="Cambria" panose="02040503050406030204" pitchFamily="18" charset="0"/>
              </a:rPr>
              <a:t>Analyze costs and pricing for lower-margin categories and consider bundling or repositioning them for growth (e.g., value packs). </a:t>
            </a:r>
          </a:p>
          <a:p>
            <a:pPr marL="285750" indent="-285750">
              <a:buFont typeface="Arial" panose="020B0604020202020204" pitchFamily="34" charset="0"/>
              <a:buChar char="•"/>
            </a:pPr>
            <a:r>
              <a:rPr lang="en-US" sz="1200" dirty="0">
                <a:latin typeface="Cambria" panose="02040503050406030204" pitchFamily="18" charset="0"/>
                <a:ea typeface="Cambria" panose="02040503050406030204" pitchFamily="18" charset="0"/>
              </a:rPr>
              <a:t>Regularly review product margins and phase out underperforming products.</a:t>
            </a:r>
          </a:p>
          <a:p>
            <a:pPr marL="285750" indent="-285750">
              <a:buFont typeface="Arial" panose="020B0604020202020204" pitchFamily="34" charset="0"/>
              <a:buChar char="•"/>
            </a:pPr>
            <a:r>
              <a:rPr lang="en-US" sz="1200" dirty="0">
                <a:latin typeface="Cambria" panose="02040503050406030204" pitchFamily="18" charset="0"/>
                <a:ea typeface="Cambria" panose="02040503050406030204" pitchFamily="18" charset="0"/>
              </a:rPr>
              <a:t>Use category performance to inform future R&amp;D investments.</a:t>
            </a:r>
          </a:p>
        </p:txBody>
      </p:sp>
    </p:spTree>
    <p:extLst>
      <p:ext uri="{BB962C8B-B14F-4D97-AF65-F5344CB8AC3E}">
        <p14:creationId xmlns:p14="http://schemas.microsoft.com/office/powerpoint/2010/main" val="3054590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54000">
              <a:schemeClr val="accent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99B05-C604-092A-7393-1520DFBF0872}"/>
              </a:ext>
            </a:extLst>
          </p:cNvPr>
          <p:cNvSpPr>
            <a:spLocks noGrp="1"/>
          </p:cNvSpPr>
          <p:nvPr>
            <p:ph type="title"/>
          </p:nvPr>
        </p:nvSpPr>
        <p:spPr>
          <a:xfrm>
            <a:off x="139065" y="426339"/>
            <a:ext cx="10149840" cy="588010"/>
          </a:xfrm>
          <a:noFill/>
        </p:spPr>
        <p:txBody>
          <a:bodyPr>
            <a:noAutofit/>
          </a:bodyPr>
          <a:lstStyle/>
          <a:p>
            <a:r>
              <a:rPr lang="en-US" sz="3200" b="1" dirty="0">
                <a:solidFill>
                  <a:schemeClr val="accent1">
                    <a:lumMod val="25000"/>
                  </a:schemeClr>
                </a:solidFill>
                <a:latin typeface="+mn-lt"/>
              </a:rPr>
              <a:t>Organic Product Demand</a:t>
            </a:r>
            <a:br>
              <a:rPr lang="en-US" b="0" i="0" u="none" strike="noStrike" baseline="0" dirty="0">
                <a:solidFill>
                  <a:srgbClr val="E36C09"/>
                </a:solidFill>
                <a:latin typeface="+mn-lt"/>
              </a:rPr>
            </a:br>
            <a:endParaRPr lang="en-US" dirty="0">
              <a:latin typeface="+mn-lt"/>
            </a:endParaRPr>
          </a:p>
        </p:txBody>
      </p:sp>
      <p:sp>
        <p:nvSpPr>
          <p:cNvPr id="6" name="Content Placeholder 5">
            <a:extLst>
              <a:ext uri="{FF2B5EF4-FFF2-40B4-BE49-F238E27FC236}">
                <a16:creationId xmlns:a16="http://schemas.microsoft.com/office/drawing/2014/main" id="{3C6CC8E5-7AE6-8398-DD50-E5FE543E3C97}"/>
              </a:ext>
            </a:extLst>
          </p:cNvPr>
          <p:cNvSpPr>
            <a:spLocks noGrp="1"/>
          </p:cNvSpPr>
          <p:nvPr>
            <p:ph idx="13"/>
          </p:nvPr>
        </p:nvSpPr>
        <p:spPr>
          <a:xfrm>
            <a:off x="6641973" y="245623"/>
            <a:ext cx="4370832" cy="3221930"/>
          </a:xfrm>
        </p:spPr>
        <p:txBody>
          <a:bodyPr>
            <a:normAutofit/>
          </a:bodyPr>
          <a:lstStyle/>
          <a:p>
            <a:pPr marL="0" indent="0">
              <a:buNone/>
            </a:pPr>
            <a:r>
              <a:rPr lang="en-US" sz="1800" dirty="0">
                <a:solidFill>
                  <a:schemeClr val="tx2">
                    <a:lumMod val="50000"/>
                  </a:schemeClr>
                </a:solidFill>
                <a:latin typeface="Cambria" panose="02040503050406030204" pitchFamily="18" charset="0"/>
                <a:ea typeface="Cambria" panose="02040503050406030204" pitchFamily="18" charset="0"/>
              </a:rPr>
              <a:t>Analysis</a:t>
            </a:r>
          </a:p>
          <a:p>
            <a:pPr marL="0" marR="0">
              <a:lnSpc>
                <a:spcPct val="115000"/>
              </a:lnSpc>
              <a:spcBef>
                <a:spcPts val="0"/>
              </a:spcBef>
              <a:spcAft>
                <a:spcPts val="800"/>
              </a:spcAft>
            </a:pPr>
            <a:r>
              <a:rPr lang="en-US" sz="1200" kern="100" dirty="0">
                <a:solidFill>
                  <a:schemeClr val="tx2">
                    <a:lumMod val="50000"/>
                  </a:schemeClr>
                </a:solidFill>
                <a:effectLst/>
                <a:latin typeface="Cambria" panose="02040503050406030204" pitchFamily="18" charset="0"/>
                <a:ea typeface="Cambria" panose="02040503050406030204" pitchFamily="18" charset="0"/>
                <a:cs typeface="Times New Roman" panose="02020603050405020304" pitchFamily="18" charset="0"/>
              </a:rPr>
              <a:t>Organic products make up a small but profitable portion of the overall portfolio. They are most successful in online and retail channels where health-conscious buyers are more concentrated.</a:t>
            </a:r>
          </a:p>
          <a:p>
            <a:pPr marL="0" marR="0">
              <a:lnSpc>
                <a:spcPct val="115000"/>
              </a:lnSpc>
              <a:spcBef>
                <a:spcPts val="0"/>
              </a:spcBef>
              <a:spcAft>
                <a:spcPts val="800"/>
              </a:spcAft>
            </a:pPr>
            <a:r>
              <a:rPr lang="en-US" sz="1200" kern="100" dirty="0">
                <a:solidFill>
                  <a:schemeClr val="tx2">
                    <a:lumMod val="50000"/>
                  </a:schemeClr>
                </a:solidFill>
                <a:effectLst/>
                <a:latin typeface="Cambria" panose="02040503050406030204" pitchFamily="18" charset="0"/>
                <a:ea typeface="Cambria" panose="02040503050406030204" pitchFamily="18" charset="0"/>
                <a:cs typeface="Times New Roman" panose="02020603050405020304" pitchFamily="18" charset="0"/>
              </a:rPr>
              <a:t>In wholesale and supermarket channels, demand for organic variants lags behind, suggesting a disconnect with the end-consumer in these distribution methods.</a:t>
            </a:r>
          </a:p>
          <a:p>
            <a:pPr marL="0" marR="0">
              <a:lnSpc>
                <a:spcPct val="115000"/>
              </a:lnSpc>
              <a:spcBef>
                <a:spcPts val="0"/>
              </a:spcBef>
              <a:spcAft>
                <a:spcPts val="800"/>
              </a:spcAft>
            </a:pPr>
            <a:r>
              <a:rPr lang="en-US" sz="1200" kern="100" dirty="0">
                <a:solidFill>
                  <a:schemeClr val="tx2">
                    <a:lumMod val="50000"/>
                  </a:schemeClr>
                </a:solidFill>
                <a:effectLst/>
                <a:latin typeface="Cambria" panose="02040503050406030204" pitchFamily="18" charset="0"/>
                <a:ea typeface="Cambria" panose="02040503050406030204" pitchFamily="18" charset="0"/>
                <a:cs typeface="Times New Roman" panose="02020603050405020304" pitchFamily="18" charset="0"/>
              </a:rPr>
              <a:t>Organic products show higher unit profit despite lower volume, indicating pricing power and perceived value among certain demographics.</a:t>
            </a:r>
          </a:p>
          <a:p>
            <a:endParaRPr lang="en-US" sz="1200" dirty="0">
              <a:latin typeface="Cambria" panose="02040503050406030204" pitchFamily="18" charset="0"/>
              <a:ea typeface="Cambria" panose="02040503050406030204" pitchFamily="18" charset="0"/>
            </a:endParaRPr>
          </a:p>
        </p:txBody>
      </p:sp>
      <p:sp>
        <p:nvSpPr>
          <p:cNvPr id="5" name="Slide Number Placeholder 4">
            <a:extLst>
              <a:ext uri="{FF2B5EF4-FFF2-40B4-BE49-F238E27FC236}">
                <a16:creationId xmlns:a16="http://schemas.microsoft.com/office/drawing/2014/main" id="{8CBF3930-7226-63E0-7754-B4FBBDA56AE5}"/>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7</a:t>
            </a:fld>
            <a:endParaRPr lang="en-US" dirty="0"/>
          </a:p>
        </p:txBody>
      </p:sp>
      <p:pic>
        <p:nvPicPr>
          <p:cNvPr id="8" name="Content Placeholder 7" descr="A blue pie chart with a triangle&#10;&#10;AI-generated content may be incorrect.">
            <a:extLst>
              <a:ext uri="{FF2B5EF4-FFF2-40B4-BE49-F238E27FC236}">
                <a16:creationId xmlns:a16="http://schemas.microsoft.com/office/drawing/2014/main" id="{1C6ADB8D-C02C-DF81-1FEE-3E9BF9087199}"/>
              </a:ext>
            </a:extLst>
          </p:cNvPr>
          <p:cNvPicPr>
            <a:picLocks noGrp="1" noChangeAspect="1"/>
          </p:cNvPicPr>
          <p:nvPr>
            <p:ph idx="1"/>
          </p:nvPr>
        </p:nvPicPr>
        <p:blipFill>
          <a:blip r:embed="rId2"/>
          <a:stretch>
            <a:fillRect/>
          </a:stretch>
        </p:blipFill>
        <p:spPr>
          <a:xfrm>
            <a:off x="139065" y="1172736"/>
            <a:ext cx="5518786" cy="4512528"/>
          </a:xfrm>
        </p:spPr>
      </p:pic>
      <p:sp>
        <p:nvSpPr>
          <p:cNvPr id="3" name="TextBox 2">
            <a:extLst>
              <a:ext uri="{FF2B5EF4-FFF2-40B4-BE49-F238E27FC236}">
                <a16:creationId xmlns:a16="http://schemas.microsoft.com/office/drawing/2014/main" id="{B2AFB319-F72B-FFAF-5634-943DCFBC7354}"/>
              </a:ext>
            </a:extLst>
          </p:cNvPr>
          <p:cNvSpPr txBox="1"/>
          <p:nvPr/>
        </p:nvSpPr>
        <p:spPr>
          <a:xfrm>
            <a:off x="6641973" y="3896289"/>
            <a:ext cx="4898571" cy="2031325"/>
          </a:xfrm>
          <a:prstGeom prst="rect">
            <a:avLst/>
          </a:prstGeom>
          <a:noFill/>
        </p:spPr>
        <p:txBody>
          <a:bodyPr wrap="square" rtlCol="0">
            <a:spAutoFit/>
          </a:bodyPr>
          <a:lstStyle/>
          <a:p>
            <a:r>
              <a:rPr lang="en-US" dirty="0">
                <a:solidFill>
                  <a:schemeClr val="tx2">
                    <a:lumMod val="50000"/>
                  </a:schemeClr>
                </a:solidFill>
                <a:latin typeface="Cambria" panose="02040503050406030204" pitchFamily="18" charset="0"/>
                <a:ea typeface="Cambria" panose="02040503050406030204" pitchFamily="18" charset="0"/>
              </a:rPr>
              <a:t>Recommendations</a:t>
            </a:r>
          </a:p>
          <a:p>
            <a:endParaRPr lang="en-US" sz="1200" dirty="0">
              <a:solidFill>
                <a:schemeClr val="tx2">
                  <a:lumMod val="50000"/>
                </a:schemeClr>
              </a:solidFill>
              <a:latin typeface="Cambria" panose="02040503050406030204" pitchFamily="18" charset="0"/>
              <a:ea typeface="Cambria" panose="02040503050406030204" pitchFamily="18" charset="0"/>
            </a:endParaRPr>
          </a:p>
          <a:p>
            <a:pPr marL="171450" indent="-171450">
              <a:buFont typeface="Arial" panose="020B0604020202020204" pitchFamily="34" charset="0"/>
              <a:buChar char="•"/>
            </a:pPr>
            <a:r>
              <a:rPr lang="en-US" sz="1200" kern="100" dirty="0">
                <a:effectLst/>
                <a:latin typeface="Cambria" panose="02040503050406030204" pitchFamily="18" charset="0"/>
                <a:ea typeface="Cambria" panose="02040503050406030204" pitchFamily="18" charset="0"/>
                <a:cs typeface="Times New Roman" panose="02020603050405020304" pitchFamily="18" charset="0"/>
              </a:rPr>
              <a:t>Expand organic product availability online where premium and ethical branding resonates most. </a:t>
            </a:r>
          </a:p>
          <a:p>
            <a:pPr marL="171450" indent="-171450">
              <a:buFont typeface="Arial" panose="020B0604020202020204" pitchFamily="34" charset="0"/>
              <a:buChar char="•"/>
            </a:pPr>
            <a:r>
              <a:rPr lang="en-US" sz="1200" kern="100" dirty="0">
                <a:effectLst/>
                <a:latin typeface="Cambria" panose="02040503050406030204" pitchFamily="18" charset="0"/>
                <a:ea typeface="Cambria" panose="02040503050406030204" pitchFamily="18" charset="0"/>
                <a:cs typeface="Times New Roman" panose="02020603050405020304" pitchFamily="18" charset="0"/>
              </a:rPr>
              <a:t>Launch educational or promotional campaigns in supermarkets and wholesale spaces to build awareness and justify pricing.</a:t>
            </a:r>
          </a:p>
          <a:p>
            <a:pPr marL="171450" indent="-171450">
              <a:buFont typeface="Arial" panose="020B0604020202020204" pitchFamily="34" charset="0"/>
              <a:buChar char="•"/>
            </a:pPr>
            <a:r>
              <a:rPr lang="en-US" sz="1200" kern="100" dirty="0">
                <a:effectLst/>
                <a:latin typeface="Cambria" panose="02040503050406030204" pitchFamily="18" charset="0"/>
                <a:ea typeface="Cambria" panose="02040503050406030204" pitchFamily="18" charset="0"/>
                <a:cs typeface="Times New Roman" panose="02020603050405020304" pitchFamily="18" charset="0"/>
              </a:rPr>
              <a:t> Use customer segmentation data to identify markets and age groups most receptive to organic products and adapt packaging and messaging accordingly.</a:t>
            </a:r>
          </a:p>
          <a:p>
            <a:pPr marL="171450" indent="-171450">
              <a:buFont typeface="Arial" panose="020B0604020202020204" pitchFamily="34" charset="0"/>
              <a:buChar char="•"/>
            </a:pPr>
            <a:endParaRPr lang="en-US" sz="1200" dirty="0">
              <a:solidFill>
                <a:schemeClr val="tx2">
                  <a:lumMod val="5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37387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a:gsLst>
            <a:gs pos="5400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8" name="Picture Placeholder 7" descr="A screenshot of a computer screen&#10;&#10;AI-generated content may be incorrect.">
            <a:extLst>
              <a:ext uri="{FF2B5EF4-FFF2-40B4-BE49-F238E27FC236}">
                <a16:creationId xmlns:a16="http://schemas.microsoft.com/office/drawing/2014/main" id="{62AA5387-5EA5-D980-D2AB-F27A0D3B63AE}"/>
              </a:ext>
            </a:extLst>
          </p:cNvPr>
          <p:cNvPicPr preferRelativeResize="0">
            <a:picLocks noGrp="1" noChangeAspect="1"/>
          </p:cNvPicPr>
          <p:nvPr>
            <p:ph type="pic" sz="quarter" idx="11"/>
          </p:nvPr>
        </p:nvPicPr>
        <p:blipFill>
          <a:blip r:embed="rId2"/>
          <a:srcRect l="157" t="474" r="157" b="474"/>
          <a:stretch/>
        </p:blipFill>
        <p:spPr>
          <a:xfrm>
            <a:off x="0" y="0"/>
            <a:ext cx="12191999" cy="6857999"/>
          </a:xfrm>
        </p:spPr>
      </p:pic>
    </p:spTree>
    <p:extLst>
      <p:ext uri="{BB962C8B-B14F-4D97-AF65-F5344CB8AC3E}">
        <p14:creationId xmlns:p14="http://schemas.microsoft.com/office/powerpoint/2010/main" val="2348906763"/>
      </p:ext>
    </p:extLst>
  </p:cSld>
  <p:clrMapOvr>
    <a:masterClrMapping/>
  </p:clrMapOvr>
</p:sld>
</file>

<file path=ppt/theme/theme1.xml><?xml version="1.0" encoding="utf-8"?>
<a:theme xmlns:a="http://schemas.openxmlformats.org/drawingml/2006/main" name="Custom">
  <a:themeElements>
    <a:clrScheme name="Custom 17">
      <a:dk1>
        <a:sysClr val="windowText" lastClr="000000"/>
      </a:dk1>
      <a:lt1>
        <a:sysClr val="window" lastClr="FFFFFF"/>
      </a:lt1>
      <a:dk2>
        <a:srgbClr val="44546A"/>
      </a:dk2>
      <a:lt2>
        <a:srgbClr val="E7E6E6"/>
      </a:lt2>
      <a:accent1>
        <a:srgbClr val="BED6DA"/>
      </a:accent1>
      <a:accent2>
        <a:srgbClr val="3E7090"/>
      </a:accent2>
      <a:accent3>
        <a:srgbClr val="93A5A8"/>
      </a:accent3>
      <a:accent4>
        <a:srgbClr val="627272"/>
      </a:accent4>
      <a:accent5>
        <a:srgbClr val="BDA07D"/>
      </a:accent5>
      <a:accent6>
        <a:srgbClr val="D8CAB7"/>
      </a:accent6>
      <a:hlink>
        <a:srgbClr val="0563C1"/>
      </a:hlink>
      <a:folHlink>
        <a:srgbClr val="954F72"/>
      </a:folHlink>
    </a:clrScheme>
    <a:fontScheme name="Custom 24">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468121_win32_CP_V3" id="{DB41292E-DA07-4A60-84D2-21F0B686AF93}" vid="{CD2DD4A9-674C-44A3-BA93-D7C3019ED0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Props1.xml><?xml version="1.0" encoding="utf-8"?>
<ds:datastoreItem xmlns:ds="http://schemas.openxmlformats.org/officeDocument/2006/customXml" ds:itemID="{BE47603A-423C-4B8F-AA3D-8E6FA47105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279BBA1-1277-4614-8DDE-B2EB22751222}">
  <ds:schemaRefs>
    <ds:schemaRef ds:uri="http://schemas.microsoft.com/sharepoint/v3/contenttype/forms"/>
  </ds:schemaRefs>
</ds:datastoreItem>
</file>

<file path=customXml/itemProps3.xml><?xml version="1.0" encoding="utf-8"?>
<ds:datastoreItem xmlns:ds="http://schemas.openxmlformats.org/officeDocument/2006/customXml" ds:itemID="{62AF5DA8-6387-4138-BF96-B65D39F2FC21}">
  <ds:schemaRefs>
    <ds:schemaRef ds:uri="http://schemas.openxmlformats.org/package/2006/metadata/core-properties"/>
    <ds:schemaRef ds:uri="http://purl.org/dc/dcmitype/"/>
    <ds:schemaRef ds:uri="http://www.w3.org/XML/1998/namespace"/>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purl.org/dc/elements/1.1/"/>
    <ds:schemaRef ds:uri="http://purl.org/dc/terms/"/>
    <ds:schemaRef ds:uri="230e9df3-be65-4c73-a93b-d1236ebd677e"/>
    <ds:schemaRef ds:uri="16c05727-aa75-4e4a-9b5f-8a80a1165891"/>
    <ds:schemaRef ds:uri="71af3243-3dd4-4a8d-8c0d-dd76da1f02a5"/>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Coastal presentation</Template>
  <TotalTime>265</TotalTime>
  <Words>876</Words>
  <Application>Microsoft Office PowerPoint</Application>
  <PresentationFormat>Widescreen</PresentationFormat>
  <Paragraphs>67</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Aptos</vt:lpstr>
      <vt:lpstr>Arial</vt:lpstr>
      <vt:lpstr>Calibri</vt:lpstr>
      <vt:lpstr>Cambria</vt:lpstr>
      <vt:lpstr>Segoe UI Light</vt:lpstr>
      <vt:lpstr>Segoe UI Semibold</vt:lpstr>
      <vt:lpstr>Symbol</vt:lpstr>
      <vt:lpstr>Custom</vt:lpstr>
      <vt:lpstr>CHOCO DE LUXE CASE STUDY  </vt:lpstr>
      <vt:lpstr>Introduction</vt:lpstr>
      <vt:lpstr>Location Sales Performance </vt:lpstr>
      <vt:lpstr>Channel Effectiveness </vt:lpstr>
      <vt:lpstr>Salesperson Productivity </vt:lpstr>
      <vt:lpstr>Product-Level Productivity </vt:lpstr>
      <vt:lpstr>Organic Product Demand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opeyemi oladigbol</dc:creator>
  <cp:lastModifiedBy>opeyemi oladigbol</cp:lastModifiedBy>
  <cp:revision>3</cp:revision>
  <dcterms:created xsi:type="dcterms:W3CDTF">2025-07-05T16:21:50Z</dcterms:created>
  <dcterms:modified xsi:type="dcterms:W3CDTF">2025-07-07T04:16:38Z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